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11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9755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deck summarises one notebook run that compared logistic regression, decision trees, random forest and gradient boosting for fraud screening. The short answer is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set: 4,000 transactions, 68 of them fraud. Logistic regression at threshold 0.25 flagged 58 transactions and caught 33 frauds. Both tuned tree models caught only 17 frauds when forced to flag about 60.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never states the current fraud process, so the baseline here is a stated assumption. The 60-screenings capacity comes from the notebook’s capacity check.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fraud is only 1.7% of rows, accuracy is not a useful score and the cut-off matters as much as the algorithm.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transaction_id and is_fraud are excluded from the predictors, which leaves 24 raw features. The source and time period are not in the execution output, so they are shown as not stated.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announced a card_age_months story but printed a hours-since-last-transaction table instead, so there is no card-age evidence in the output. Hours-since-last-transaction buckets: 0-15h 1.8%, 16-30h 1.2%, 31-45h 1.2%, 46-60h 1.1%, 61h and above 0.0%.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transaction_id and is_fraud are removed before modelling. The new-feature ideas are suggestions, not work that was done.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rows use the 4,000-transaction test set. Dashes mean the notebook did not print that figure. The balanced-weight logistic regression is a different model from the selected one: it catches more fraud but floods reviewers.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forest grid result: max_depth None, min_samples_leaf 5, 200 trees, CV F1 0.324. Best boosting grid result: learning rate 0.2, max_iter 100, CV F1 0.259. The notebook’s closing table lists different best values (depth 10, learning rate 0.05); we trust the printed grid output. The explanation of why is our interpretation, not tested.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sweep and the choice of 0.25 were made on test-set predictions, so the 0.524 F1 is likely optimistic. The notebook printed selected rows of the sweep, not all of them.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Frauds caught = recall × 68. Logistic 0.485 × 68 = 33. Forest and boosting 0.250 × 68 = 17. The notebook’s own closing note says the tree models rank better but that does not show up in the numbers at 60 flags.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Intervals are Wilson 95% intervals computed from 33 of 68 and 33 of 58. Segment-level error analysis (by merchant category, channel, amount band, customer age) is a gap in the notebook and should be done before launch.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$12,660 per 4,000 transactions is $3.165 per transaction, or $3.165M per 1M transactions. 58 flags per 4,000 is 14,500 reviews per 1M, so the review team must scale accordingly. Every dollar input is an assumption to be replaced with finance data. The estimate also inherits the optimism of the test-set threshold.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rejection of the model. It is a statement that the evidence is not yet strong enough to switch it on. A shadow pilot scores live traffic without acting on it, which costs little and answers the open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numbers are proposals set slightly under the test-set result (precision 0.569, recall 0.485) to allow for optimism. They should be agreed with the fraud and compliance owners.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left to right: data sources, feature pipeline, model serving, decision. Outcomes from the decision step return to the training store; monitoring watches every stage.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thresholds on this slide are proposals to be agreed with the fraud team. Size the test with a power calculation so each arm has enough confirmed frauds. Chargeback labels arrive with a delay, so the primary metric should be read after labels mature.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5FF6A-7535-871B-66FD-6E8862E5D5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3A9CA-E83E-E236-8115-41EB129332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6E31AA-B1B2-A720-626E-42ABF249478A}"/>
              </a:ext>
            </a:extLst>
          </p:cNvPr>
          <p:cNvSpPr>
            <a:spLocks noGrp="1"/>
          </p:cNvSpPr>
          <p:nvPr>
            <p:ph type="body" idx="1"/>
          </p:nvPr>
        </p:nvSpPr>
        <p:spPr/>
        <p:txBody>
          <a:bodyPr/>
          <a:lstStyle/>
          <a:p>
            <a:r>
              <a:rPr lang="en-US" dirty="0"/>
              <a:t>All thresholds on this slide are proposals to be agreed with the fraud team. Size the test with a power calculation so each arm has enough confirmed frauds. Chargeback labels arrive with a delay, so the primary metric should be read after labels mature.</a:t>
            </a:r>
          </a:p>
        </p:txBody>
      </p:sp>
      <p:sp>
        <p:nvSpPr>
          <p:cNvPr id="4" name="Slide Number Placeholder 3">
            <a:extLst>
              <a:ext uri="{FF2B5EF4-FFF2-40B4-BE49-F238E27FC236}">
                <a16:creationId xmlns:a16="http://schemas.microsoft.com/office/drawing/2014/main" id="{84DAEBE6-0962-B9F8-A6F1-9518D29876B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169346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6213A"/>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latin typeface="Source Serif 4" charset="0"/>
              <a:ea typeface="Source Serif 4" charset="0"/>
              <a:cs typeface="Source Serif 4" charset="0"/>
            </a:endParaRPr>
          </a:p>
        </p:txBody>
      </p:sp>
      <p:sp>
        <p:nvSpPr>
          <p:cNvPr id="3" name="Text Placeholder 2"/>
          <p:cNvSpPr>
            <a:spLocks noGrp="1"/>
          </p:cNvSpPr>
          <p:nvPr>
            <p:ph type="body" idx="101"/>
          </p:nvPr>
        </p:nvSpPr>
        <p:spPr>
          <a:xfrm>
            <a:off x="812800" y="1826220"/>
            <a:ext cx="10566400" cy="4218980"/>
          </a:xfrm>
          <a:prstGeom prst="rect">
            <a:avLst/>
          </a:prstGeom>
          <a:noFill/>
          <a:ln/>
        </p:spPr>
        <p:txBody>
          <a:bodyPr wrap="square" lIns="0" tIns="0" rIns="0" bIns="0" rtlCol="0" anchor="t"/>
          <a:lstStyle>
            <a:lvl1pPr marL="0" indent="0" algn="l">
              <a:lnSpc>
                <a:spcPct val="140000"/>
              </a:lnSpc>
              <a:buNone/>
              <a:defRPr lang="en-US" sz="1600" dirty="0">
                <a:solidFill>
                  <a:srgbClr val="1621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latin typeface="IBM Plex Sans" charset="0"/>
              <a:ea typeface="IBM Plex Sans" charset="0"/>
              <a:cs typeface="IBM Plex Sans"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6213A"/>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latin typeface="Source Serif 4" charset="0"/>
              <a:ea typeface="Source Serif 4" charset="0"/>
              <a:cs typeface="Source Serif 4" charset="0"/>
            </a:endParaRPr>
          </a:p>
        </p:txBody>
      </p:sp>
      <p:sp>
        <p:nvSpPr>
          <p:cNvPr id="3" name="Text Placeholder 2"/>
          <p:cNvSpPr>
            <a:spLocks noGrp="1"/>
          </p:cNvSpPr>
          <p:nvPr>
            <p:ph type="body" idx="101"/>
          </p:nvPr>
        </p:nvSpPr>
        <p:spPr>
          <a:xfrm>
            <a:off x="812800" y="1826220"/>
            <a:ext cx="10566400" cy="4218980"/>
          </a:xfrm>
          <a:prstGeom prst="rect">
            <a:avLst/>
          </a:prstGeom>
          <a:noFill/>
          <a:ln/>
        </p:spPr>
        <p:txBody>
          <a:bodyPr wrap="square" lIns="0" tIns="0" rIns="0" bIns="0" rtlCol="0" anchor="t"/>
          <a:lstStyle>
            <a:lvl1pPr marL="0" indent="0" algn="l">
              <a:lnSpc>
                <a:spcPct val="140000"/>
              </a:lnSpc>
              <a:buNone/>
              <a:defRPr lang="en-US" sz="1600" dirty="0">
                <a:solidFill>
                  <a:srgbClr val="1621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latin typeface="IBM Plex Sans" charset="0"/>
              <a:ea typeface="IBM Plex Sans" charset="0"/>
              <a:cs typeface="IBM Plex Sans"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272"/>
                </a:solidFill>
                <a:latin typeface="IBM Plex Sans" pitchFamily="34" charset="0"/>
                <a:ea typeface="IBM Plex Sans" pitchFamily="34" charset="-122"/>
                <a:cs typeface="IBM Plex Sans" pitchFamily="34" charset="-120"/>
              </a:rPr>
              <a:t>MODEL SELECTION REVIEW</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2457549"/>
            <a:ext cx="10883392" cy="125472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5F2EA"/>
                </a:solidFill>
                <a:latin typeface="Source Serif 4" pitchFamily="18" charset="0"/>
                <a:ea typeface="Source Serif 4" pitchFamily="18" charset="-122"/>
                <a:cs typeface="Source Serif 4" pitchFamily="18" charset="-120"/>
              </a:rPr>
              <a:t>Credit card fraud detection: choosing and judging a model</a:t>
            </a:r>
            <a:endParaRPr lang="en-US" sz="4400" dirty="0">
              <a:latin typeface="Source Serif 4" charset="0"/>
              <a:ea typeface="Source Serif 4" charset="0"/>
              <a:cs typeface="Source Serif 4" charset="0"/>
            </a:endParaRPr>
          </a:p>
        </p:txBody>
      </p:sp>
      <p:sp>
        <p:nvSpPr>
          <p:cNvPr id="4" name="Text 2"/>
          <p:cNvSpPr/>
          <p:nvPr/>
        </p:nvSpPr>
        <p:spPr>
          <a:xfrm>
            <a:off x="812800" y="389007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8C0D4"/>
                </a:solidFill>
                <a:latin typeface="IBM Plex Sans" pitchFamily="34" charset="0"/>
                <a:ea typeface="IBM Plex Sans" pitchFamily="34" charset="-122"/>
                <a:cs typeface="IBM Plex Sans" pitchFamily="34" charset="-120"/>
              </a:rPr>
              <a:t>What the execution output shows, what it does not show, and whether the selected model should go live.</a:t>
            </a:r>
            <a:endParaRPr lang="en-US" sz="1600" dirty="0">
              <a:latin typeface="IBM Plex Sans" charset="0"/>
              <a:ea typeface="IBM Plex Sans" charset="0"/>
              <a:cs typeface="IBM Plex Sans" charset="0"/>
            </a:endParaRPr>
          </a:p>
        </p:txBody>
      </p:sp>
      <p:sp>
        <p:nvSpPr>
          <p:cNvPr id="5" name="Text 3"/>
          <p:cNvSpPr/>
          <p:nvPr/>
        </p:nvSpPr>
        <p:spPr>
          <a:xfrm>
            <a:off x="815975" y="5609034"/>
            <a:ext cx="2050455" cy="432991"/>
          </a:xfrm>
          <a:prstGeom prst="roundRect">
            <a:avLst>
              <a:gd name="adj" fmla="val 50000"/>
            </a:avLst>
          </a:prstGeom>
          <a:noFill/>
          <a:ln w="6350">
            <a:solidFill>
              <a:srgbClr val="4A5878"/>
            </a:solidFill>
            <a:prstDash val="solid"/>
          </a:ln>
        </p:spPr>
        <p:txBody>
          <a:bodyPr wrap="none" lIns="0" tIns="0" rIns="0" bIns="0" rtlCol="0" anchor="ctr">
            <a:normAutofit/>
          </a:bodyPr>
          <a:lstStyle/>
          <a:p>
            <a:pPr marL="0" indent="0" algn="ctr">
              <a:lnSpc>
                <a:spcPts val="1960"/>
              </a:lnSpc>
              <a:buNone/>
            </a:pPr>
            <a:r>
              <a:rPr lang="en-US" sz="1400" dirty="0">
                <a:solidFill>
                  <a:srgbClr val="F5F2EA"/>
                </a:solidFill>
                <a:latin typeface="IBM Plex Sans" pitchFamily="34" charset="0"/>
                <a:ea typeface="IBM Plex Sans" pitchFamily="34" charset="-122"/>
                <a:cs typeface="IBM Plex Sans" pitchFamily="34" charset="-120"/>
              </a:rPr>
              <a:t>20,000 transactions</a:t>
            </a:r>
            <a:endParaRPr lang="en-US" sz="1400" dirty="0">
              <a:latin typeface="IBM Plex Sans" charset="0"/>
              <a:ea typeface="IBM Plex Sans" charset="0"/>
              <a:cs typeface="IBM Plex Sans" charset="0"/>
            </a:endParaRPr>
          </a:p>
        </p:txBody>
      </p:sp>
      <p:sp>
        <p:nvSpPr>
          <p:cNvPr id="6" name="Text 4"/>
          <p:cNvSpPr/>
          <p:nvPr/>
        </p:nvSpPr>
        <p:spPr>
          <a:xfrm>
            <a:off x="3025180" y="5609034"/>
            <a:ext cx="1320800" cy="432991"/>
          </a:xfrm>
          <a:prstGeom prst="roundRect">
            <a:avLst>
              <a:gd name="adj" fmla="val 50000"/>
            </a:avLst>
          </a:prstGeom>
          <a:noFill/>
          <a:ln w="6350">
            <a:solidFill>
              <a:srgbClr val="4A5878"/>
            </a:solidFill>
            <a:prstDash val="solid"/>
          </a:ln>
        </p:spPr>
        <p:txBody>
          <a:bodyPr wrap="none" lIns="0" tIns="0" rIns="0" bIns="0" rtlCol="0" anchor="ctr">
            <a:normAutofit/>
          </a:bodyPr>
          <a:lstStyle/>
          <a:p>
            <a:pPr marL="0" indent="0" algn="ctr">
              <a:lnSpc>
                <a:spcPts val="1960"/>
              </a:lnSpc>
              <a:buNone/>
            </a:pPr>
            <a:r>
              <a:rPr lang="en-US" sz="1400" dirty="0">
                <a:solidFill>
                  <a:srgbClr val="F5F2EA"/>
                </a:solidFill>
                <a:latin typeface="IBM Plex Sans" pitchFamily="34" charset="0"/>
                <a:ea typeface="IBM Plex Sans" pitchFamily="34" charset="-122"/>
                <a:cs typeface="IBM Plex Sans" pitchFamily="34" charset="-120"/>
              </a:rPr>
              <a:t>1.7% fraud</a:t>
            </a:r>
            <a:endParaRPr lang="en-US" sz="1400" dirty="0">
              <a:latin typeface="IBM Plex Sans" charset="0"/>
              <a:ea typeface="IBM Plex Sans" charset="0"/>
              <a:cs typeface="IBM Plex Sans" charset="0"/>
            </a:endParaRPr>
          </a:p>
        </p:txBody>
      </p:sp>
      <p:sp>
        <p:nvSpPr>
          <p:cNvPr id="7" name="Text 5"/>
          <p:cNvSpPr/>
          <p:nvPr/>
        </p:nvSpPr>
        <p:spPr>
          <a:xfrm>
            <a:off x="4501555" y="5605859"/>
            <a:ext cx="1664097" cy="439341"/>
          </a:xfrm>
          <a:prstGeom prst="roundRect">
            <a:avLst>
              <a:gd name="adj" fmla="val 50000"/>
            </a:avLst>
          </a:prstGeom>
          <a:solidFill>
            <a:srgbClr val="F2A272"/>
          </a:solidFill>
          <a:ln/>
        </p:spPr>
        <p:txBody>
          <a:bodyPr wrap="none" lIns="0" tIns="0" rIns="0" bIns="0" rtlCol="0" anchor="ctr">
            <a:normAutofit/>
          </a:bodyPr>
          <a:lstStyle/>
          <a:p>
            <a:pPr marL="0" indent="0" algn="ctr">
              <a:lnSpc>
                <a:spcPts val="1960"/>
              </a:lnSpc>
              <a:buNone/>
            </a:pPr>
            <a:r>
              <a:rPr lang="en-US" sz="1400" b="1" dirty="0">
                <a:solidFill>
                  <a:srgbClr val="16213A"/>
                </a:solidFill>
                <a:latin typeface="IBM Plex Sans" pitchFamily="34" charset="0"/>
                <a:ea typeface="IBM Plex Sans" pitchFamily="34" charset="-122"/>
                <a:cs typeface="IBM Plex Sans" pitchFamily="34" charset="-120"/>
              </a:rPr>
              <a:t>Verdict: not yet</a:t>
            </a:r>
            <a:endParaRPr lang="en-US" sz="1400" dirty="0">
              <a:latin typeface="IBM Plex Sans" charset="0"/>
              <a:ea typeface="IBM Plex Sans" charset="0"/>
              <a:cs typeface="IBM Plex Sans"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SUMMARY</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The simplest model won, and it is not ready yet</a:t>
            </a:r>
            <a:endParaRPr lang="en-US" sz="3000" dirty="0">
              <a:latin typeface="Source Serif 4" charset="0"/>
              <a:ea typeface="Source Serif 4" charset="0"/>
              <a:cs typeface="Source Serif 4" charset="0"/>
            </a:endParaRPr>
          </a:p>
        </p:txBody>
      </p:sp>
      <p:sp>
        <p:nvSpPr>
          <p:cNvPr id="4" name="Shape 2"/>
          <p:cNvSpPr/>
          <p:nvPr/>
        </p:nvSpPr>
        <p:spPr>
          <a:xfrm>
            <a:off x="815975" y="1753195"/>
            <a:ext cx="3397250" cy="2205633"/>
          </a:xfrm>
          <a:prstGeom prst="roundRect">
            <a:avLst>
              <a:gd name="adj" fmla="val 4462"/>
            </a:avLst>
          </a:prstGeom>
          <a:solidFill>
            <a:srgbClr val="FCFBF7"/>
          </a:solidFill>
          <a:ln w="6350">
            <a:solidFill>
              <a:srgbClr val="D9D3C4"/>
            </a:solidFill>
            <a:prstDash val="solid"/>
          </a:ln>
        </p:spPr>
      </p:sp>
      <p:sp>
        <p:nvSpPr>
          <p:cNvPr id="5" name="Text 3"/>
          <p:cNvSpPr/>
          <p:nvPr/>
        </p:nvSpPr>
        <p:spPr>
          <a:xfrm>
            <a:off x="1047750" y="1984970"/>
            <a:ext cx="3021711"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D6F7E"/>
                </a:solidFill>
                <a:latin typeface="Source Serif 4" pitchFamily="18" charset="0"/>
                <a:ea typeface="Source Serif 4" pitchFamily="18" charset="-122"/>
                <a:cs typeface="Source Serif 4" pitchFamily="18" charset="-120"/>
              </a:rPr>
              <a:t>0.524</a:t>
            </a:r>
            <a:endParaRPr lang="en-US" sz="4800" dirty="0">
              <a:latin typeface="Source Serif 4" charset="0"/>
              <a:ea typeface="Source Serif 4" charset="0"/>
              <a:cs typeface="Source Serif 4" charset="0"/>
            </a:endParaRPr>
          </a:p>
        </p:txBody>
      </p:sp>
      <p:sp>
        <p:nvSpPr>
          <p:cNvPr id="6" name="Text 4"/>
          <p:cNvSpPr/>
          <p:nvPr/>
        </p:nvSpPr>
        <p:spPr>
          <a:xfrm>
            <a:off x="1047750" y="2731691"/>
            <a:ext cx="3021711"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13A"/>
                </a:solidFill>
                <a:latin typeface="IBM Plex Sans" pitchFamily="34" charset="0"/>
                <a:ea typeface="IBM Plex Sans" pitchFamily="34" charset="-122"/>
                <a:cs typeface="IBM Plex Sans" pitchFamily="34" charset="-120"/>
              </a:rPr>
              <a:t>F1 on the test set for logistic regression at a 0.25 threshold. The best of every model tried.</a:t>
            </a:r>
            <a:endParaRPr lang="en-US" sz="1400" dirty="0">
              <a:latin typeface="IBM Plex Sans" charset="0"/>
              <a:ea typeface="IBM Plex Sans" charset="0"/>
              <a:cs typeface="IBM Plex Sans" charset="0"/>
            </a:endParaRPr>
          </a:p>
        </p:txBody>
      </p:sp>
      <p:sp>
        <p:nvSpPr>
          <p:cNvPr id="7" name="Shape 5"/>
          <p:cNvSpPr/>
          <p:nvPr/>
        </p:nvSpPr>
        <p:spPr>
          <a:xfrm>
            <a:off x="4397375" y="1753195"/>
            <a:ext cx="3397250" cy="2205633"/>
          </a:xfrm>
          <a:prstGeom prst="roundRect">
            <a:avLst>
              <a:gd name="adj" fmla="val 4462"/>
            </a:avLst>
          </a:prstGeom>
          <a:solidFill>
            <a:srgbClr val="FCFBF7"/>
          </a:solidFill>
          <a:ln w="6350">
            <a:solidFill>
              <a:srgbClr val="D9D3C4"/>
            </a:solidFill>
            <a:prstDash val="solid"/>
          </a:ln>
        </p:spPr>
      </p:sp>
      <p:sp>
        <p:nvSpPr>
          <p:cNvPr id="8" name="Text 6"/>
          <p:cNvSpPr/>
          <p:nvPr/>
        </p:nvSpPr>
        <p:spPr>
          <a:xfrm>
            <a:off x="4629150" y="1984970"/>
            <a:ext cx="3021711"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D6F7E"/>
                </a:solidFill>
                <a:latin typeface="Source Serif 4" pitchFamily="18" charset="0"/>
                <a:ea typeface="Source Serif 4" pitchFamily="18" charset="-122"/>
                <a:cs typeface="Source Serif 4" pitchFamily="18" charset="-120"/>
              </a:rPr>
              <a:t>48.5%</a:t>
            </a:r>
            <a:endParaRPr lang="en-US" sz="4800" dirty="0">
              <a:latin typeface="Source Serif 4" charset="0"/>
              <a:ea typeface="Source Serif 4" charset="0"/>
              <a:cs typeface="Source Serif 4" charset="0"/>
            </a:endParaRPr>
          </a:p>
        </p:txBody>
      </p:sp>
      <p:sp>
        <p:nvSpPr>
          <p:cNvPr id="9" name="Text 7"/>
          <p:cNvSpPr/>
          <p:nvPr/>
        </p:nvSpPr>
        <p:spPr>
          <a:xfrm>
            <a:off x="4629150" y="2731691"/>
            <a:ext cx="3021711"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13A"/>
                </a:solidFill>
                <a:latin typeface="IBM Plex Sans" pitchFamily="34" charset="0"/>
                <a:ea typeface="IBM Plex Sans" pitchFamily="34" charset="-122"/>
                <a:cs typeface="IBM Plex Sans" pitchFamily="34" charset="-120"/>
              </a:rPr>
              <a:t>of frauds caught: 33 of 68. Precision is 56.9%, so 33 of the 58 flags are real fraud.</a:t>
            </a:r>
            <a:endParaRPr lang="en-US" sz="1400" dirty="0">
              <a:latin typeface="IBM Plex Sans" charset="0"/>
              <a:ea typeface="IBM Plex Sans" charset="0"/>
              <a:cs typeface="IBM Plex Sans" charset="0"/>
            </a:endParaRPr>
          </a:p>
        </p:txBody>
      </p:sp>
      <p:sp>
        <p:nvSpPr>
          <p:cNvPr id="10" name="Shape 8"/>
          <p:cNvSpPr/>
          <p:nvPr/>
        </p:nvSpPr>
        <p:spPr>
          <a:xfrm>
            <a:off x="7978775" y="1753195"/>
            <a:ext cx="3397250" cy="2205633"/>
          </a:xfrm>
          <a:prstGeom prst="roundRect">
            <a:avLst>
              <a:gd name="adj" fmla="val 4462"/>
            </a:avLst>
          </a:prstGeom>
          <a:solidFill>
            <a:srgbClr val="FCFBF7"/>
          </a:solidFill>
          <a:ln w="6350">
            <a:solidFill>
              <a:srgbClr val="D9D3C4"/>
            </a:solidFill>
            <a:prstDash val="solid"/>
          </a:ln>
        </p:spPr>
      </p:sp>
      <p:sp>
        <p:nvSpPr>
          <p:cNvPr id="11" name="Text 9"/>
          <p:cNvSpPr/>
          <p:nvPr/>
        </p:nvSpPr>
        <p:spPr>
          <a:xfrm>
            <a:off x="8210550" y="1984970"/>
            <a:ext cx="3021711"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B8441A"/>
                </a:solidFill>
                <a:latin typeface="Source Serif 4" pitchFamily="18" charset="0"/>
                <a:ea typeface="Source Serif 4" pitchFamily="18" charset="-122"/>
                <a:cs typeface="Source Serif 4" pitchFamily="18" charset="-120"/>
              </a:rPr>
              <a:t>25%</a:t>
            </a:r>
            <a:endParaRPr lang="en-US" sz="4800" dirty="0">
              <a:latin typeface="Source Serif 4" charset="0"/>
              <a:ea typeface="Source Serif 4" charset="0"/>
              <a:cs typeface="Source Serif 4" charset="0"/>
            </a:endParaRPr>
          </a:p>
        </p:txBody>
      </p:sp>
      <p:sp>
        <p:nvSpPr>
          <p:cNvPr id="12" name="Text 10"/>
          <p:cNvSpPr/>
          <p:nvPr/>
        </p:nvSpPr>
        <p:spPr>
          <a:xfrm>
            <a:off x="8210550" y="2731691"/>
            <a:ext cx="3021711" cy="102076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13A"/>
                </a:solidFill>
                <a:latin typeface="IBM Plex Sans" pitchFamily="34" charset="0"/>
                <a:ea typeface="IBM Plex Sans" pitchFamily="34" charset="-122"/>
                <a:cs typeface="IBM Plex Sans" pitchFamily="34" charset="-120"/>
              </a:rPr>
              <a:t>recall for tuned random forest and gradient boosting at the same 60 reviews. Extra complexity did not pay.</a:t>
            </a:r>
            <a:endParaRPr lang="en-US" sz="1400" dirty="0">
              <a:latin typeface="IBM Plex Sans" charset="0"/>
              <a:ea typeface="IBM Plex Sans" charset="0"/>
              <a:cs typeface="IBM Plex Sans" charset="0"/>
            </a:endParaRPr>
          </a:p>
        </p:txBody>
      </p:sp>
      <p:sp>
        <p:nvSpPr>
          <p:cNvPr id="13" name="Shape 11"/>
          <p:cNvSpPr/>
          <p:nvPr/>
        </p:nvSpPr>
        <p:spPr>
          <a:xfrm>
            <a:off x="812800" y="4190603"/>
            <a:ext cx="10566400" cy="1367631"/>
          </a:xfrm>
          <a:prstGeom prst="roundRect">
            <a:avLst>
              <a:gd name="adj" fmla="val 7429"/>
            </a:avLst>
          </a:prstGeom>
          <a:solidFill>
            <a:srgbClr val="16213A"/>
          </a:solidFill>
          <a:ln/>
        </p:spPr>
      </p:sp>
      <p:sp>
        <p:nvSpPr>
          <p:cNvPr id="14" name="Text 12"/>
          <p:cNvSpPr/>
          <p:nvPr/>
        </p:nvSpPr>
        <p:spPr>
          <a:xfrm>
            <a:off x="1117600" y="4444603"/>
            <a:ext cx="1025550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272"/>
                </a:solidFill>
                <a:latin typeface="IBM Plex Sans" pitchFamily="34" charset="0"/>
                <a:ea typeface="IBM Plex Sans" pitchFamily="34" charset="-122"/>
                <a:cs typeface="IBM Plex Sans" pitchFamily="34" charset="-120"/>
              </a:rPr>
              <a:t>RECOMMENDATION</a:t>
            </a:r>
            <a:endParaRPr lang="en-US" sz="1200" dirty="0">
              <a:latin typeface="IBM Plex Sans" charset="0"/>
              <a:ea typeface="IBM Plex Sans" charset="0"/>
              <a:cs typeface="IBM Plex Sans" charset="0"/>
            </a:endParaRPr>
          </a:p>
        </p:txBody>
      </p:sp>
      <p:sp>
        <p:nvSpPr>
          <p:cNvPr id="15" name="Text 13"/>
          <p:cNvSpPr/>
          <p:nvPr/>
        </p:nvSpPr>
        <p:spPr>
          <a:xfrm>
            <a:off x="1117600" y="4721423"/>
            <a:ext cx="10255504" cy="608211"/>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5F2EA"/>
                </a:solidFill>
                <a:latin typeface="IBM Plex Sans" pitchFamily="34" charset="0"/>
                <a:ea typeface="IBM Plex Sans" pitchFamily="34" charset="-122"/>
                <a:cs typeface="IBM Plex Sans" pitchFamily="34" charset="-120"/>
              </a:rPr>
              <a:t>Do not deploy yet. Run logistic regression in shadow mode, re-pick the threshold on untouched data, then A/B test it against today’s process.</a:t>
            </a:r>
            <a:endParaRPr lang="en-US" sz="1700" dirty="0">
              <a:latin typeface="IBM Plex Sans" charset="0"/>
              <a:ea typeface="IBM Plex Sans" charset="0"/>
              <a:cs typeface="IBM Plex Sans" charset="0"/>
            </a:endParaRPr>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2</a:t>
            </a:r>
            <a:endParaRPr lang="en-US" sz="1200" dirty="0">
              <a:latin typeface="IBM Plex Sans" charset="0"/>
              <a:ea typeface="IBM Plex Sans" charset="0"/>
              <a:cs typeface="IBM Plex Sans"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1 · PROBLEM STATEMENT</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Find the fraud a small review team can actually screen</a:t>
            </a:r>
            <a:endParaRPr lang="en-US" sz="3000" dirty="0">
              <a:latin typeface="Source Serif 4" charset="0"/>
              <a:ea typeface="Source Serif 4" charset="0"/>
              <a:cs typeface="Source Serif 4" charset="0"/>
            </a:endParaRPr>
          </a:p>
        </p:txBody>
      </p:sp>
      <p:sp>
        <p:nvSpPr>
          <p:cNvPr id="4" name="Shape 2"/>
          <p:cNvSpPr/>
          <p:nvPr/>
        </p:nvSpPr>
        <p:spPr>
          <a:xfrm>
            <a:off x="815975" y="1753195"/>
            <a:ext cx="3397250" cy="2111970"/>
          </a:xfrm>
          <a:prstGeom prst="roundRect">
            <a:avLst>
              <a:gd name="adj" fmla="val 4660"/>
            </a:avLst>
          </a:prstGeom>
          <a:solidFill>
            <a:srgbClr val="FCFBF7"/>
          </a:solidFill>
          <a:ln w="6350">
            <a:solidFill>
              <a:srgbClr val="D9D3C4"/>
            </a:solidFill>
            <a:prstDash val="solid"/>
          </a:ln>
        </p:spPr>
      </p:sp>
      <p:sp>
        <p:nvSpPr>
          <p:cNvPr id="5" name="Text 3"/>
          <p:cNvSpPr/>
          <p:nvPr/>
        </p:nvSpPr>
        <p:spPr>
          <a:xfrm>
            <a:off x="1047750" y="19849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F7E"/>
                </a:solidFill>
                <a:latin typeface="IBM Plex Sans" pitchFamily="34" charset="0"/>
                <a:ea typeface="IBM Plex Sans" pitchFamily="34" charset="-122"/>
                <a:cs typeface="IBM Plex Sans" pitchFamily="34" charset="-120"/>
              </a:rPr>
              <a:t>WHO IS AFFECTED</a:t>
            </a:r>
            <a:endParaRPr lang="en-US" sz="1200" dirty="0">
              <a:latin typeface="IBM Plex Sans" charset="0"/>
              <a:ea typeface="IBM Plex Sans" charset="0"/>
              <a:cs typeface="IBM Plex Sans" charset="0"/>
            </a:endParaRPr>
          </a:p>
        </p:txBody>
      </p:sp>
      <p:sp>
        <p:nvSpPr>
          <p:cNvPr id="6" name="Text 4"/>
          <p:cNvSpPr/>
          <p:nvPr/>
        </p:nvSpPr>
        <p:spPr>
          <a:xfrm>
            <a:off x="1047750" y="2299891"/>
            <a:ext cx="3021711" cy="13589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13A"/>
                </a:solidFill>
                <a:latin typeface="IBM Plex Sans" pitchFamily="34" charset="0"/>
                <a:ea typeface="IBM Plex Sans" pitchFamily="34" charset="-122"/>
                <a:cs typeface="IBM Plex Sans" pitchFamily="34" charset="-120"/>
              </a:rPr>
              <a:t>Cardholders who lose money or get blocked, the issuer that absorbs fraud losses, and the review team whose time is limited.</a:t>
            </a:r>
            <a:endParaRPr lang="en-US" sz="1500" dirty="0">
              <a:latin typeface="IBM Plex Sans" charset="0"/>
              <a:ea typeface="IBM Plex Sans" charset="0"/>
              <a:cs typeface="IBM Plex Sans" charset="0"/>
            </a:endParaRPr>
          </a:p>
        </p:txBody>
      </p:sp>
      <p:sp>
        <p:nvSpPr>
          <p:cNvPr id="7" name="Shape 5"/>
          <p:cNvSpPr/>
          <p:nvPr/>
        </p:nvSpPr>
        <p:spPr>
          <a:xfrm>
            <a:off x="4397375" y="1753195"/>
            <a:ext cx="3397250" cy="2111970"/>
          </a:xfrm>
          <a:prstGeom prst="roundRect">
            <a:avLst>
              <a:gd name="adj" fmla="val 4660"/>
            </a:avLst>
          </a:prstGeom>
          <a:solidFill>
            <a:srgbClr val="FCFBF7"/>
          </a:solidFill>
          <a:ln w="6350">
            <a:solidFill>
              <a:srgbClr val="D9D3C4"/>
            </a:solidFill>
            <a:prstDash val="solid"/>
          </a:ln>
        </p:spPr>
      </p:sp>
      <p:sp>
        <p:nvSpPr>
          <p:cNvPr id="8" name="Text 6"/>
          <p:cNvSpPr/>
          <p:nvPr/>
        </p:nvSpPr>
        <p:spPr>
          <a:xfrm>
            <a:off x="4629150" y="19849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F7E"/>
                </a:solidFill>
                <a:latin typeface="IBM Plex Sans" pitchFamily="34" charset="0"/>
                <a:ea typeface="IBM Plex Sans" pitchFamily="34" charset="-122"/>
                <a:cs typeface="IBM Plex Sans" pitchFamily="34" charset="-120"/>
              </a:rPr>
              <a:t>DECISION SUPPORTED</a:t>
            </a:r>
            <a:endParaRPr lang="en-US" sz="1200" dirty="0">
              <a:latin typeface="IBM Plex Sans" charset="0"/>
              <a:ea typeface="IBM Plex Sans" charset="0"/>
              <a:cs typeface="IBM Plex Sans" charset="0"/>
            </a:endParaRPr>
          </a:p>
        </p:txBody>
      </p:sp>
      <p:sp>
        <p:nvSpPr>
          <p:cNvPr id="9" name="Text 7"/>
          <p:cNvSpPr/>
          <p:nvPr/>
        </p:nvSpPr>
        <p:spPr>
          <a:xfrm>
            <a:off x="4629150" y="2299891"/>
            <a:ext cx="3021711"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13A"/>
                </a:solidFill>
                <a:latin typeface="IBM Plex Sans" pitchFamily="34" charset="0"/>
                <a:ea typeface="IBM Plex Sans" pitchFamily="34" charset="-122"/>
                <a:cs typeface="IBM Plex Sans" pitchFamily="34" charset="-120"/>
              </a:rPr>
              <a:t>For each transaction: send it to an analyst for screening, or let it through. The model ranks risk and people make the call.</a:t>
            </a:r>
            <a:endParaRPr lang="en-US" sz="1500" dirty="0">
              <a:latin typeface="IBM Plex Sans" charset="0"/>
              <a:ea typeface="IBM Plex Sans" charset="0"/>
              <a:cs typeface="IBM Plex Sans" charset="0"/>
            </a:endParaRPr>
          </a:p>
        </p:txBody>
      </p:sp>
      <p:sp>
        <p:nvSpPr>
          <p:cNvPr id="10" name="Shape 8"/>
          <p:cNvSpPr/>
          <p:nvPr/>
        </p:nvSpPr>
        <p:spPr>
          <a:xfrm>
            <a:off x="7978775" y="1753195"/>
            <a:ext cx="3397250" cy="2111970"/>
          </a:xfrm>
          <a:prstGeom prst="roundRect">
            <a:avLst>
              <a:gd name="adj" fmla="val 4660"/>
            </a:avLst>
          </a:prstGeom>
          <a:solidFill>
            <a:srgbClr val="FCFBF7"/>
          </a:solidFill>
          <a:ln w="6350">
            <a:solidFill>
              <a:srgbClr val="D9D3C4"/>
            </a:solidFill>
            <a:prstDash val="solid"/>
          </a:ln>
        </p:spPr>
      </p:sp>
      <p:sp>
        <p:nvSpPr>
          <p:cNvPr id="11" name="Text 9"/>
          <p:cNvSpPr/>
          <p:nvPr/>
        </p:nvSpPr>
        <p:spPr>
          <a:xfrm>
            <a:off x="8210550" y="198497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F7E"/>
                </a:solidFill>
                <a:latin typeface="IBM Plex Sans" pitchFamily="34" charset="0"/>
                <a:ea typeface="IBM Plex Sans" pitchFamily="34" charset="-122"/>
                <a:cs typeface="IBM Plex Sans" pitchFamily="34" charset="-120"/>
              </a:rPr>
              <a:t>TODAY’S BASELINE</a:t>
            </a:r>
            <a:endParaRPr lang="en-US" sz="1200" dirty="0">
              <a:latin typeface="IBM Plex Sans" charset="0"/>
              <a:ea typeface="IBM Plex Sans" charset="0"/>
              <a:cs typeface="IBM Plex Sans" charset="0"/>
            </a:endParaRPr>
          </a:p>
        </p:txBody>
      </p:sp>
      <p:sp>
        <p:nvSpPr>
          <p:cNvPr id="12" name="Text 10"/>
          <p:cNvSpPr/>
          <p:nvPr/>
        </p:nvSpPr>
        <p:spPr>
          <a:xfrm>
            <a:off x="8210550" y="2299891"/>
            <a:ext cx="3021711" cy="13589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13A"/>
                </a:solidFill>
                <a:latin typeface="IBM Plex Sans" pitchFamily="34" charset="0"/>
                <a:ea typeface="IBM Plex Sans" pitchFamily="34" charset="-122"/>
                <a:cs typeface="IBM Plex Sans" pitchFamily="34" charset="-120"/>
              </a:rPr>
              <a:t>The current process is not described in the output. The only floor available is approve-everything: 98.3% accuracy, zero fraud caught.</a:t>
            </a:r>
            <a:endParaRPr lang="en-US" sz="1500" dirty="0">
              <a:latin typeface="IBM Plex Sans" charset="0"/>
              <a:ea typeface="IBM Plex Sans" charset="0"/>
              <a:cs typeface="IBM Plex Sans" charset="0"/>
            </a:endParaRPr>
          </a:p>
        </p:txBody>
      </p:sp>
      <p:sp>
        <p:nvSpPr>
          <p:cNvPr id="13" name="Text 11"/>
          <p:cNvSpPr/>
          <p:nvPr/>
        </p:nvSpPr>
        <p:spPr>
          <a:xfrm>
            <a:off x="812800" y="4096941"/>
            <a:ext cx="10566400" cy="1026120"/>
          </a:xfrm>
          <a:prstGeom prst="roundRect">
            <a:avLst>
              <a:gd name="adj" fmla="val 9901"/>
            </a:avLst>
          </a:prstGeom>
          <a:solidFill>
            <a:srgbClr val="16213A"/>
          </a:solidFill>
          <a:ln/>
        </p:spPr>
        <p:txBody>
          <a:bodyPr wrap="square" lIns="275042" tIns="198842" rIns="0" bIns="173442" rtlCol="0" anchor="t">
            <a:normAutofit/>
          </a:bodyPr>
          <a:lstStyle/>
          <a:p>
            <a:pPr marL="0" indent="0" algn="l">
              <a:lnSpc>
                <a:spcPts val="2240"/>
              </a:lnSpc>
              <a:buNone/>
            </a:pPr>
            <a:r>
              <a:rPr lang="en-US" sz="1600" dirty="0">
                <a:solidFill>
                  <a:srgbClr val="F5F2EA"/>
                </a:solidFill>
                <a:latin typeface="IBM Plex Sans" pitchFamily="34" charset="0"/>
                <a:ea typeface="IBM Plex Sans" pitchFamily="34" charset="-122"/>
                <a:cs typeface="IBM Plex Sans" pitchFamily="34" charset="-120"/>
              </a:rPr>
              <a:t>Success means catching more fraud within the review capacity of about 60 screenings per 4,000 transactions.</a:t>
            </a:r>
            <a:endParaRPr lang="en-US" sz="1600" dirty="0">
              <a:latin typeface="IBM Plex Sans" charset="0"/>
              <a:ea typeface="IBM Plex Sans" charset="0"/>
              <a:cs typeface="IBM Plex Sans" charset="0"/>
            </a:endParaRPr>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3</a:t>
            </a:r>
            <a:endParaRPr lang="en-US" sz="1200" dirty="0">
              <a:latin typeface="IBM Plex Sans" charset="0"/>
              <a:ea typeface="IBM Plex Sans" charset="0"/>
              <a:cs typeface="IBM Plex Sans"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2 · TYPE OF ML PROBLEM</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Supervised, binary classification on imbalanced data</a:t>
            </a:r>
            <a:endParaRPr lang="en-US" sz="3000" dirty="0">
              <a:latin typeface="Source Serif 4" charset="0"/>
              <a:ea typeface="Source Serif 4" charset="0"/>
              <a:cs typeface="Source Serif 4" charset="0"/>
            </a:endParaRPr>
          </a:p>
        </p:txBody>
      </p:sp>
      <p:sp>
        <p:nvSpPr>
          <p:cNvPr id="4" name="Shape 2"/>
          <p:cNvSpPr/>
          <p:nvPr/>
        </p:nvSpPr>
        <p:spPr>
          <a:xfrm>
            <a:off x="815975" y="1753195"/>
            <a:ext cx="3397250" cy="1210171"/>
          </a:xfrm>
          <a:prstGeom prst="roundRect">
            <a:avLst>
              <a:gd name="adj" fmla="val 8133"/>
            </a:avLst>
          </a:prstGeom>
          <a:solidFill>
            <a:srgbClr val="FCFBF7"/>
          </a:solidFill>
          <a:ln w="6350">
            <a:solidFill>
              <a:srgbClr val="D9D3C4"/>
            </a:solidFill>
            <a:prstDash val="solid"/>
          </a:ln>
        </p:spPr>
      </p:sp>
      <p:sp>
        <p:nvSpPr>
          <p:cNvPr id="5" name="Text 3"/>
          <p:cNvSpPr/>
          <p:nvPr/>
        </p:nvSpPr>
        <p:spPr>
          <a:xfrm>
            <a:off x="1022350" y="1959570"/>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D6F7E"/>
                </a:solidFill>
                <a:latin typeface="IBM Plex Sans" pitchFamily="34" charset="0"/>
                <a:ea typeface="IBM Plex Sans" pitchFamily="34" charset="-122"/>
                <a:cs typeface="IBM Plex Sans" pitchFamily="34" charset="-120"/>
              </a:rPr>
              <a:t>Supervised</a:t>
            </a:r>
            <a:endParaRPr lang="en-US" sz="1700" dirty="0">
              <a:latin typeface="IBM Plex Sans" charset="0"/>
              <a:ea typeface="IBM Plex Sans" charset="0"/>
              <a:cs typeface="IBM Plex Sans" charset="0"/>
            </a:endParaRPr>
          </a:p>
        </p:txBody>
      </p:sp>
      <p:sp>
        <p:nvSpPr>
          <p:cNvPr id="6" name="Text 4"/>
          <p:cNvSpPr/>
          <p:nvPr/>
        </p:nvSpPr>
        <p:spPr>
          <a:xfrm>
            <a:off x="1022350" y="2294830"/>
            <a:ext cx="30740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13A"/>
                </a:solidFill>
                <a:latin typeface="IBM Plex Sans" pitchFamily="34" charset="0"/>
                <a:ea typeface="IBM Plex Sans" pitchFamily="34" charset="-122"/>
                <a:cs typeface="IBM Plex Sans" pitchFamily="34" charset="-120"/>
              </a:rPr>
              <a:t>Every row carries a label, is_fraud, so the model learns from past outcomes.</a:t>
            </a:r>
            <a:endParaRPr lang="en-US" sz="1300" dirty="0">
              <a:latin typeface="IBM Plex Sans" charset="0"/>
              <a:ea typeface="IBM Plex Sans" charset="0"/>
              <a:cs typeface="IBM Plex Sans" charset="0"/>
            </a:endParaRPr>
          </a:p>
        </p:txBody>
      </p:sp>
      <p:sp>
        <p:nvSpPr>
          <p:cNvPr id="7" name="Shape 5"/>
          <p:cNvSpPr/>
          <p:nvPr/>
        </p:nvSpPr>
        <p:spPr>
          <a:xfrm>
            <a:off x="4397375" y="1753195"/>
            <a:ext cx="3397250" cy="1210171"/>
          </a:xfrm>
          <a:prstGeom prst="roundRect">
            <a:avLst>
              <a:gd name="adj" fmla="val 8133"/>
            </a:avLst>
          </a:prstGeom>
          <a:solidFill>
            <a:srgbClr val="FCFBF7"/>
          </a:solidFill>
          <a:ln w="6350">
            <a:solidFill>
              <a:srgbClr val="D9D3C4"/>
            </a:solidFill>
            <a:prstDash val="solid"/>
          </a:ln>
        </p:spPr>
      </p:sp>
      <p:sp>
        <p:nvSpPr>
          <p:cNvPr id="8" name="Text 6"/>
          <p:cNvSpPr/>
          <p:nvPr/>
        </p:nvSpPr>
        <p:spPr>
          <a:xfrm>
            <a:off x="4603750" y="1959570"/>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D6F7E"/>
                </a:solidFill>
                <a:latin typeface="IBM Plex Sans" pitchFamily="34" charset="0"/>
                <a:ea typeface="IBM Plex Sans" pitchFamily="34" charset="-122"/>
                <a:cs typeface="IBM Plex Sans" pitchFamily="34" charset="-120"/>
              </a:rPr>
              <a:t>Classification</a:t>
            </a:r>
            <a:endParaRPr lang="en-US" sz="1700" dirty="0">
              <a:latin typeface="IBM Plex Sans" charset="0"/>
              <a:ea typeface="IBM Plex Sans" charset="0"/>
              <a:cs typeface="IBM Plex Sans" charset="0"/>
            </a:endParaRPr>
          </a:p>
        </p:txBody>
      </p:sp>
      <p:sp>
        <p:nvSpPr>
          <p:cNvPr id="9" name="Text 7"/>
          <p:cNvSpPr/>
          <p:nvPr/>
        </p:nvSpPr>
        <p:spPr>
          <a:xfrm>
            <a:off x="4603750" y="2294830"/>
            <a:ext cx="30740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13A"/>
                </a:solidFill>
                <a:latin typeface="IBM Plex Sans" pitchFamily="34" charset="0"/>
                <a:ea typeface="IBM Plex Sans" pitchFamily="34" charset="-122"/>
                <a:cs typeface="IBM Plex Sans" pitchFamily="34" charset="-120"/>
              </a:rPr>
              <a:t>The answer is a category, fraud or not fraud, not a number to predict.</a:t>
            </a:r>
            <a:endParaRPr lang="en-US" sz="1300" dirty="0">
              <a:latin typeface="IBM Plex Sans" charset="0"/>
              <a:ea typeface="IBM Plex Sans" charset="0"/>
              <a:cs typeface="IBM Plex Sans" charset="0"/>
            </a:endParaRPr>
          </a:p>
        </p:txBody>
      </p:sp>
      <p:sp>
        <p:nvSpPr>
          <p:cNvPr id="10" name="Shape 8"/>
          <p:cNvSpPr/>
          <p:nvPr/>
        </p:nvSpPr>
        <p:spPr>
          <a:xfrm>
            <a:off x="7978775" y="1753195"/>
            <a:ext cx="3397250" cy="1210171"/>
          </a:xfrm>
          <a:prstGeom prst="roundRect">
            <a:avLst>
              <a:gd name="adj" fmla="val 8133"/>
            </a:avLst>
          </a:prstGeom>
          <a:solidFill>
            <a:srgbClr val="FCFBF7"/>
          </a:solidFill>
          <a:ln w="6350">
            <a:solidFill>
              <a:srgbClr val="D9D3C4"/>
            </a:solidFill>
            <a:prstDash val="solid"/>
          </a:ln>
        </p:spPr>
      </p:sp>
      <p:sp>
        <p:nvSpPr>
          <p:cNvPr id="11" name="Text 9"/>
          <p:cNvSpPr/>
          <p:nvPr/>
        </p:nvSpPr>
        <p:spPr>
          <a:xfrm>
            <a:off x="8185150" y="1959570"/>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D6F7E"/>
                </a:solidFill>
                <a:latin typeface="IBM Plex Sans" pitchFamily="34" charset="0"/>
                <a:ea typeface="IBM Plex Sans" pitchFamily="34" charset="-122"/>
                <a:cs typeface="IBM Plex Sans" pitchFamily="34" charset="-120"/>
              </a:rPr>
              <a:t>Binary</a:t>
            </a:r>
            <a:endParaRPr lang="en-US" sz="1700" dirty="0">
              <a:latin typeface="IBM Plex Sans" charset="0"/>
              <a:ea typeface="IBM Plex Sans" charset="0"/>
              <a:cs typeface="IBM Plex Sans" charset="0"/>
            </a:endParaRPr>
          </a:p>
        </p:txBody>
      </p:sp>
      <p:sp>
        <p:nvSpPr>
          <p:cNvPr id="12" name="Text 10"/>
          <p:cNvSpPr/>
          <p:nvPr/>
        </p:nvSpPr>
        <p:spPr>
          <a:xfrm>
            <a:off x="8185150" y="2294830"/>
            <a:ext cx="307403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13A"/>
                </a:solidFill>
                <a:latin typeface="IBM Plex Sans" pitchFamily="34" charset="0"/>
                <a:ea typeface="IBM Plex Sans" pitchFamily="34" charset="-122"/>
                <a:cs typeface="IBM Plex Sans" pitchFamily="34" charset="-120"/>
              </a:rPr>
              <a:t>Two classes: 1 = fraud (1.7%) and 0 = not fraud (98.3%).</a:t>
            </a:r>
            <a:endParaRPr lang="en-US" sz="1300" dirty="0">
              <a:latin typeface="IBM Plex Sans" charset="0"/>
              <a:ea typeface="IBM Plex Sans" charset="0"/>
              <a:cs typeface="IBM Plex Sans" charset="0"/>
            </a:endParaRPr>
          </a:p>
        </p:txBody>
      </p:sp>
      <p:sp>
        <p:nvSpPr>
          <p:cNvPr id="13" name="Shape 11"/>
          <p:cNvSpPr/>
          <p:nvPr/>
        </p:nvSpPr>
        <p:spPr>
          <a:xfrm>
            <a:off x="815975" y="3147516"/>
            <a:ext cx="3397250" cy="1441252"/>
          </a:xfrm>
          <a:prstGeom prst="roundRect">
            <a:avLst>
              <a:gd name="adj" fmla="val 6829"/>
            </a:avLst>
          </a:prstGeom>
          <a:solidFill>
            <a:srgbClr val="FCFBF7"/>
          </a:solidFill>
          <a:ln w="6350">
            <a:solidFill>
              <a:srgbClr val="D9D3C4"/>
            </a:solidFill>
            <a:prstDash val="solid"/>
          </a:ln>
        </p:spPr>
      </p:sp>
      <p:sp>
        <p:nvSpPr>
          <p:cNvPr id="14" name="Text 12"/>
          <p:cNvSpPr/>
          <p:nvPr/>
        </p:nvSpPr>
        <p:spPr>
          <a:xfrm>
            <a:off x="1022350" y="3353891"/>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D6F7E"/>
                </a:solidFill>
                <a:latin typeface="IBM Plex Sans" pitchFamily="34" charset="0"/>
                <a:ea typeface="IBM Plex Sans" pitchFamily="34" charset="-122"/>
                <a:cs typeface="IBM Plex Sans" pitchFamily="34" charset="-120"/>
              </a:rPr>
              <a:t>Probability and cut-off</a:t>
            </a:r>
            <a:endParaRPr lang="en-US" sz="1700" dirty="0">
              <a:latin typeface="IBM Plex Sans" charset="0"/>
              <a:ea typeface="IBM Plex Sans" charset="0"/>
              <a:cs typeface="IBM Plex Sans" charset="0"/>
            </a:endParaRPr>
          </a:p>
        </p:txBody>
      </p:sp>
      <p:sp>
        <p:nvSpPr>
          <p:cNvPr id="15" name="Text 13"/>
          <p:cNvSpPr/>
          <p:nvPr/>
        </p:nvSpPr>
        <p:spPr>
          <a:xfrm>
            <a:off x="1022350" y="3689152"/>
            <a:ext cx="3074035"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13A"/>
                </a:solidFill>
                <a:latin typeface="IBM Plex Sans" pitchFamily="34" charset="0"/>
                <a:ea typeface="IBM Plex Sans" pitchFamily="34" charset="-122"/>
                <a:cs typeface="IBM Plex Sans" pitchFamily="34" charset="-120"/>
              </a:rPr>
              <a:t>The model scores fraud probability. A threshold, 0.25 here, turns it into a flag sized to review capacity.</a:t>
            </a:r>
            <a:endParaRPr lang="en-US" sz="1300" dirty="0">
              <a:latin typeface="IBM Plex Sans" charset="0"/>
              <a:ea typeface="IBM Plex Sans" charset="0"/>
              <a:cs typeface="IBM Plex Sans" charset="0"/>
            </a:endParaRPr>
          </a:p>
        </p:txBody>
      </p:sp>
      <p:sp>
        <p:nvSpPr>
          <p:cNvPr id="16" name="Shape 14"/>
          <p:cNvSpPr/>
          <p:nvPr/>
        </p:nvSpPr>
        <p:spPr>
          <a:xfrm>
            <a:off x="4397375" y="3147516"/>
            <a:ext cx="3397250" cy="1441252"/>
          </a:xfrm>
          <a:prstGeom prst="roundRect">
            <a:avLst>
              <a:gd name="adj" fmla="val 6829"/>
            </a:avLst>
          </a:prstGeom>
          <a:solidFill>
            <a:srgbClr val="FCFBF7"/>
          </a:solidFill>
          <a:ln w="6350">
            <a:solidFill>
              <a:srgbClr val="D9D3C4"/>
            </a:solidFill>
            <a:prstDash val="solid"/>
          </a:ln>
        </p:spPr>
      </p:sp>
      <p:sp>
        <p:nvSpPr>
          <p:cNvPr id="17" name="Text 15"/>
          <p:cNvSpPr/>
          <p:nvPr/>
        </p:nvSpPr>
        <p:spPr>
          <a:xfrm>
            <a:off x="4603750" y="3353891"/>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D6F7E"/>
                </a:solidFill>
                <a:latin typeface="IBM Plex Sans" pitchFamily="34" charset="0"/>
                <a:ea typeface="IBM Plex Sans" pitchFamily="34" charset="-122"/>
                <a:cs typeface="IBM Plex Sans" pitchFamily="34" charset="-120"/>
              </a:rPr>
              <a:t>Real-time in production</a:t>
            </a:r>
            <a:endParaRPr lang="en-US" sz="1700" dirty="0">
              <a:latin typeface="IBM Plex Sans" charset="0"/>
              <a:ea typeface="IBM Plex Sans" charset="0"/>
              <a:cs typeface="IBM Plex Sans" charset="0"/>
            </a:endParaRPr>
          </a:p>
        </p:txBody>
      </p:sp>
      <p:sp>
        <p:nvSpPr>
          <p:cNvPr id="18" name="Text 16"/>
          <p:cNvSpPr/>
          <p:nvPr/>
        </p:nvSpPr>
        <p:spPr>
          <a:xfrm>
            <a:off x="4603750" y="3689152"/>
            <a:ext cx="3074035"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13A"/>
                </a:solidFill>
                <a:latin typeface="IBM Plex Sans" pitchFamily="34" charset="0"/>
                <a:ea typeface="IBM Plex Sans" pitchFamily="34" charset="-122"/>
                <a:cs typeface="IBM Plex Sans" pitchFamily="34" charset="-120"/>
              </a:rPr>
              <a:t>Scoring must happen at authorisation. Training and testing here ran in batch on a static file.</a:t>
            </a:r>
            <a:endParaRPr lang="en-US" sz="1300" dirty="0">
              <a:latin typeface="IBM Plex Sans" charset="0"/>
              <a:ea typeface="IBM Plex Sans" charset="0"/>
              <a:cs typeface="IBM Plex Sans" charset="0"/>
            </a:endParaRPr>
          </a:p>
        </p:txBody>
      </p:sp>
      <p:sp>
        <p:nvSpPr>
          <p:cNvPr id="19" name="Shape 17"/>
          <p:cNvSpPr/>
          <p:nvPr/>
        </p:nvSpPr>
        <p:spPr>
          <a:xfrm>
            <a:off x="7978775" y="3147516"/>
            <a:ext cx="3397250" cy="1441252"/>
          </a:xfrm>
          <a:prstGeom prst="roundRect">
            <a:avLst>
              <a:gd name="adj" fmla="val 6829"/>
            </a:avLst>
          </a:prstGeom>
          <a:solidFill>
            <a:srgbClr val="FCFBF7"/>
          </a:solidFill>
          <a:ln w="6350">
            <a:solidFill>
              <a:srgbClr val="D9D3C4"/>
            </a:solidFill>
            <a:prstDash val="solid"/>
          </a:ln>
        </p:spPr>
      </p:sp>
      <p:sp>
        <p:nvSpPr>
          <p:cNvPr id="20" name="Text 18"/>
          <p:cNvSpPr/>
          <p:nvPr/>
        </p:nvSpPr>
        <p:spPr>
          <a:xfrm>
            <a:off x="8185150" y="3353891"/>
            <a:ext cx="307403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D6F7E"/>
                </a:solidFill>
                <a:latin typeface="IBM Plex Sans" pitchFamily="34" charset="0"/>
                <a:ea typeface="IBM Plex Sans" pitchFamily="34" charset="-122"/>
                <a:cs typeface="IBM Plex Sans" pitchFamily="34" charset="-120"/>
              </a:rPr>
              <a:t>Not time-series</a:t>
            </a:r>
            <a:endParaRPr lang="en-US" sz="1700" dirty="0">
              <a:latin typeface="IBM Plex Sans" charset="0"/>
              <a:ea typeface="IBM Plex Sans" charset="0"/>
              <a:cs typeface="IBM Plex Sans" charset="0"/>
            </a:endParaRPr>
          </a:p>
        </p:txBody>
      </p:sp>
      <p:sp>
        <p:nvSpPr>
          <p:cNvPr id="21" name="Text 19"/>
          <p:cNvSpPr/>
          <p:nvPr/>
        </p:nvSpPr>
        <p:spPr>
          <a:xfrm>
            <a:off x="8185150" y="3689152"/>
            <a:ext cx="3074035"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13A"/>
                </a:solidFill>
                <a:latin typeface="IBM Plex Sans" pitchFamily="34" charset="0"/>
                <a:ea typeface="IBM Plex Sans" pitchFamily="34" charset="-122"/>
                <a:cs typeface="IBM Plex Sans" pitchFamily="34" charset="-120"/>
              </a:rPr>
              <a:t>Rows are treated as independent. There are no timestamps, so the split is random and stratified.</a:t>
            </a:r>
            <a:endParaRPr lang="en-US" sz="1300" dirty="0">
              <a:latin typeface="IBM Plex Sans" charset="0"/>
              <a:ea typeface="IBM Plex Sans" charset="0"/>
              <a:cs typeface="IBM Plex Sans" charset="0"/>
            </a:endParaRPr>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4</a:t>
            </a:r>
            <a:endParaRPr lang="en-US" sz="1200" dirty="0">
              <a:latin typeface="IBM Plex Sans" charset="0"/>
              <a:ea typeface="IBM Plex Sans" charset="0"/>
              <a:cs typeface="IBM Plex Sans"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3 · DATASET</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20,000 transactions with only 339 frauds</a:t>
            </a:r>
            <a:endParaRPr lang="en-US" sz="3000" dirty="0">
              <a:latin typeface="Source Serif 4" charset="0"/>
              <a:ea typeface="Source Serif 4" charset="0"/>
              <a:cs typeface="Source Serif 4"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2720"/>
          <a:ext cx="5829300" cy="2660650"/>
        </p:xfrm>
        <a:graphic>
          <a:graphicData uri="http://schemas.openxmlformats.org/drawingml/2006/table">
            <a:tbl>
              <a:tblPr/>
              <a:tblGrid>
                <a:gridCol w="1748790">
                  <a:extLst>
                    <a:ext uri="{9D8B030D-6E8A-4147-A177-3AD203B41FA5}">
                      <a16:colId xmlns:a16="http://schemas.microsoft.com/office/drawing/2014/main" val="20000"/>
                    </a:ext>
                  </a:extLst>
                </a:gridCol>
                <a:gridCol w="4080510">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Item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Detail</a:t>
                      </a:r>
                      <a:endParaRPr lang="en-US" sz="1200" dirty="0">
                        <a:latin typeface="IBM Plex Sans" charset="0"/>
                        <a:ea typeface="IBM Plex Sans" charset="0"/>
                        <a:cs typeface="IBM Plex Sans" charset="0"/>
                      </a:endParaRPr>
                    </a:p>
                  </a:txBody>
                  <a:tcPr marL="53340" marR="53340" marT="53340" marB="5334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Size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20,000 rows × 26 columns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Predictors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24: 13 numeric, 5 text categories, 6 true/false flags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Source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Not stated in the output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Period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Not stated; only hour and weekday exist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Target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is_fraud: 1 = fraud, 0 = not fraud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Balance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339 fraud (1.7%), 19,661 not fraud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Split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16,000 train, 4,000 test, stratified; 68 test frauds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6962775" y="1753195"/>
            <a:ext cx="4413250" cy="2251373"/>
          </a:xfrm>
          <a:prstGeom prst="roundRect">
            <a:avLst>
              <a:gd name="adj" fmla="val 4372"/>
            </a:avLst>
          </a:prstGeom>
          <a:solidFill>
            <a:srgbClr val="FCFBF7"/>
          </a:solidFill>
          <a:ln w="6350">
            <a:solidFill>
              <a:srgbClr val="D9D3C4"/>
            </a:solidFill>
            <a:prstDash val="solid"/>
          </a:ln>
        </p:spPr>
      </p:sp>
      <p:sp>
        <p:nvSpPr>
          <p:cNvPr id="6" name="Text 3"/>
          <p:cNvSpPr/>
          <p:nvPr/>
        </p:nvSpPr>
        <p:spPr>
          <a:xfrm>
            <a:off x="7169150" y="1959570"/>
            <a:ext cx="412051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8441A"/>
                </a:solidFill>
                <a:latin typeface="IBM Plex Sans" pitchFamily="34" charset="0"/>
                <a:ea typeface="IBM Plex Sans" pitchFamily="34" charset="-122"/>
                <a:cs typeface="IBM Plex Sans" pitchFamily="34" charset="-120"/>
              </a:rPr>
              <a:t>Known limitations</a:t>
            </a:r>
            <a:endParaRPr lang="en-US" sz="1600" dirty="0">
              <a:latin typeface="IBM Plex Sans" charset="0"/>
              <a:ea typeface="IBM Plex Sans" charset="0"/>
              <a:cs typeface="IBM Plex Sans" charset="0"/>
            </a:endParaRPr>
          </a:p>
        </p:txBody>
      </p:sp>
      <p:sp>
        <p:nvSpPr>
          <p:cNvPr id="7" name="Text 4"/>
          <p:cNvSpPr/>
          <p:nvPr/>
        </p:nvSpPr>
        <p:spPr>
          <a:xfrm>
            <a:off x="7267956" y="2304951"/>
            <a:ext cx="4014089" cy="1518642"/>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No missing values, so no cleaning was needed</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Heavy imbalance: 68 test frauds make every metric noisy</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No timestamps, so no out-of-time check</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Licensing and privacy terms are undocumented</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is_ai_generated_scam_attempt may only be known after the fact: a leakage risk to confirm</a:t>
            </a:r>
            <a:endParaRPr lang="en-US" sz="1200" dirty="0">
              <a:latin typeface="IBM Plex Sans" charset="0"/>
              <a:ea typeface="IBM Plex Sans" charset="0"/>
              <a:cs typeface="IBM Plex Sans" charset="0"/>
            </a:endParaRPr>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5</a:t>
            </a:r>
            <a:endParaRPr lang="en-US" sz="1200" dirty="0">
              <a:latin typeface="IBM Plex Sans" charset="0"/>
              <a:ea typeface="IBM Plex Sans" charset="0"/>
              <a:cs typeface="IBM Plex Sans"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4 · EDA FINDINGS</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Five findings that shaped the modelling</a:t>
            </a:r>
            <a:endParaRPr lang="en-US" sz="3000" dirty="0">
              <a:latin typeface="Source Serif 4" charset="0"/>
              <a:ea typeface="Source Serif 4" charset="0"/>
              <a:cs typeface="Source Serif 4"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2720"/>
          <a:ext cx="10553700" cy="3062089"/>
        </p:xfrm>
        <a:graphic>
          <a:graphicData uri="http://schemas.openxmlformats.org/drawingml/2006/table">
            <a:tbl>
              <a:tblPr/>
              <a:tblGrid>
                <a:gridCol w="2110740">
                  <a:extLst>
                    <a:ext uri="{9D8B030D-6E8A-4147-A177-3AD203B41FA5}">
                      <a16:colId xmlns:a16="http://schemas.microsoft.com/office/drawing/2014/main" val="20000"/>
                    </a:ext>
                  </a:extLst>
                </a:gridCol>
                <a:gridCol w="4643628">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Finding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Evidence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What we did</a:t>
                      </a:r>
                      <a:endParaRPr lang="en-US" sz="1200" dirty="0">
                        <a:latin typeface="IBM Plex Sans" charset="0"/>
                        <a:ea typeface="IBM Plex Sans" charset="0"/>
                        <a:cs typeface="IBM Plex Sans" charset="0"/>
                      </a:endParaRPr>
                    </a:p>
                  </a:txBody>
                  <a:tcPr marL="53340" marR="53340" marT="53340" marB="5334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Fraud is rare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339 of 20,000 (1.7%). Approving everything scores 98.3% accuracy.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Dropped accuracy; used precision, recall, F1; stratified split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1"/>
                  </a:ext>
                </a:extLst>
              </a:tr>
              <a:tr h="545902">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Recent activity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Fraud rate 1.8% within 15h of the last transaction, 0.0% beyond 61h</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Kept hours_since_last_txn and velocity features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Weak checks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Logistic coefficients: no authentication +1.60; IP-country and billing mismatches about ±1.2 to 1.4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Kept every flag as a 0/1 input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3"/>
                  </a:ext>
                </a:extLst>
              </a:tr>
              <a:tr h="545902">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Risk scores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Permutation importance: cvv_retry_count 0.091, velocity_score 0.068, merchant_risk_score 0.063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Tried tree models that can combine them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4"/>
                  </a:ext>
                </a:extLst>
              </a:tr>
              <a:tr h="545902">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Outliers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Balance averages $3,319 but peaks at $127,126 (z = 28 after scaling)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Scaled only; not capped (a gap)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6</a:t>
            </a:r>
            <a:endParaRPr lang="en-US" sz="1200" dirty="0">
              <a:latin typeface="IBM Plex Sans" charset="0"/>
              <a:ea typeface="IBM Plex Sans" charset="0"/>
              <a:cs typeface="IBM Plex Sans"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5 · FEATURE ENGINEERING</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Standard preprocessing, no new features, no leakage</a:t>
            </a:r>
            <a:endParaRPr lang="en-US" sz="3000" dirty="0">
              <a:latin typeface="Source Serif 4" charset="0"/>
              <a:ea typeface="Source Serif 4" charset="0"/>
              <a:cs typeface="Source Serif 4" charset="0"/>
            </a:endParaRPr>
          </a:p>
        </p:txBody>
      </p:sp>
      <p:sp>
        <p:nvSpPr>
          <p:cNvPr id="4" name="Shape 2"/>
          <p:cNvSpPr/>
          <p:nvPr/>
        </p:nvSpPr>
        <p:spPr>
          <a:xfrm>
            <a:off x="815975" y="1753195"/>
            <a:ext cx="3397250" cy="2464693"/>
          </a:xfrm>
          <a:prstGeom prst="roundRect">
            <a:avLst>
              <a:gd name="adj" fmla="val 3993"/>
            </a:avLst>
          </a:prstGeom>
          <a:solidFill>
            <a:srgbClr val="FCFBF7"/>
          </a:solidFill>
          <a:ln w="6350">
            <a:solidFill>
              <a:srgbClr val="D9D3C4"/>
            </a:solidFill>
            <a:prstDash val="solid"/>
          </a:ln>
        </p:spPr>
      </p:sp>
      <p:sp>
        <p:nvSpPr>
          <p:cNvPr id="5" name="Text 3"/>
          <p:cNvSpPr/>
          <p:nvPr/>
        </p:nvSpPr>
        <p:spPr>
          <a:xfrm>
            <a:off x="1022350" y="1959570"/>
            <a:ext cx="307403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6F7E"/>
                </a:solidFill>
                <a:latin typeface="IBM Plex Sans" pitchFamily="34" charset="0"/>
                <a:ea typeface="IBM Plex Sans" pitchFamily="34" charset="-122"/>
                <a:cs typeface="IBM Plex Sans" pitchFamily="34" charset="-120"/>
              </a:rPr>
              <a:t>What was done</a:t>
            </a:r>
            <a:endParaRPr lang="en-US" sz="1600" dirty="0">
              <a:latin typeface="IBM Plex Sans" charset="0"/>
              <a:ea typeface="IBM Plex Sans" charset="0"/>
              <a:cs typeface="IBM Plex Sans" charset="0"/>
            </a:endParaRPr>
          </a:p>
        </p:txBody>
      </p:sp>
      <p:sp>
        <p:nvSpPr>
          <p:cNvPr id="6" name="Text 4"/>
          <p:cNvSpPr/>
          <p:nvPr/>
        </p:nvSpPr>
        <p:spPr>
          <a:xfrm>
            <a:off x="1121156" y="2304951"/>
            <a:ext cx="2967609" cy="1731963"/>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24 raw features became 60 columns</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13 numeric: median fill, then standard scaling</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11 categorical: most-frequent fill, then one-hot</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True/false flags became mirrored pairs</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No missing data, so the imputers were safety nets</a:t>
            </a:r>
            <a:endParaRPr lang="en-US" sz="1200" dirty="0">
              <a:latin typeface="IBM Plex Sans" charset="0"/>
              <a:ea typeface="IBM Plex Sans" charset="0"/>
              <a:cs typeface="IBM Plex Sans" charset="0"/>
            </a:endParaRPr>
          </a:p>
        </p:txBody>
      </p:sp>
      <p:sp>
        <p:nvSpPr>
          <p:cNvPr id="7" name="Shape 5"/>
          <p:cNvSpPr/>
          <p:nvPr/>
        </p:nvSpPr>
        <p:spPr>
          <a:xfrm>
            <a:off x="4397375" y="1753195"/>
            <a:ext cx="3397250" cy="2464693"/>
          </a:xfrm>
          <a:prstGeom prst="roundRect">
            <a:avLst>
              <a:gd name="adj" fmla="val 3993"/>
            </a:avLst>
          </a:prstGeom>
          <a:solidFill>
            <a:srgbClr val="FCFBF7"/>
          </a:solidFill>
          <a:ln w="6350">
            <a:solidFill>
              <a:srgbClr val="D9D3C4"/>
            </a:solidFill>
            <a:prstDash val="solid"/>
          </a:ln>
        </p:spPr>
      </p:sp>
      <p:sp>
        <p:nvSpPr>
          <p:cNvPr id="8" name="Text 6"/>
          <p:cNvSpPr/>
          <p:nvPr/>
        </p:nvSpPr>
        <p:spPr>
          <a:xfrm>
            <a:off x="4603750" y="1959570"/>
            <a:ext cx="307403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8441A"/>
                </a:solidFill>
                <a:latin typeface="IBM Plex Sans" pitchFamily="34" charset="0"/>
                <a:ea typeface="IBM Plex Sans" pitchFamily="34" charset="-122"/>
                <a:cs typeface="IBM Plex Sans" pitchFamily="34" charset="-120"/>
              </a:rPr>
              <a:t>New features: none</a:t>
            </a:r>
            <a:endParaRPr lang="en-US" sz="1600" dirty="0">
              <a:latin typeface="IBM Plex Sans" charset="0"/>
              <a:ea typeface="IBM Plex Sans" charset="0"/>
              <a:cs typeface="IBM Plex Sans" charset="0"/>
            </a:endParaRPr>
          </a:p>
        </p:txBody>
      </p:sp>
      <p:sp>
        <p:nvSpPr>
          <p:cNvPr id="9" name="Text 7"/>
          <p:cNvSpPr/>
          <p:nvPr/>
        </p:nvSpPr>
        <p:spPr>
          <a:xfrm>
            <a:off x="4603750" y="2304951"/>
            <a:ext cx="307403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The notebook created no engineered features. Ideas worth testing next:</a:t>
            </a:r>
            <a:endParaRPr lang="en-US" sz="1200" dirty="0">
              <a:latin typeface="IBM Plex Sans" charset="0"/>
              <a:ea typeface="IBM Plex Sans" charset="0"/>
              <a:cs typeface="IBM Plex Sans" charset="0"/>
            </a:endParaRPr>
          </a:p>
        </p:txBody>
      </p:sp>
      <p:sp>
        <p:nvSpPr>
          <p:cNvPr id="10" name="Text 8"/>
          <p:cNvSpPr/>
          <p:nvPr/>
        </p:nvSpPr>
        <p:spPr>
          <a:xfrm>
            <a:off x="4702556" y="2833191"/>
            <a:ext cx="2967609" cy="878681"/>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Amount relative to account balance</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Night-time and weekend flags</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Velocity × new merchant</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Outlier capping on balance</a:t>
            </a:r>
            <a:endParaRPr lang="en-US" sz="1200" dirty="0">
              <a:latin typeface="IBM Plex Sans" charset="0"/>
              <a:ea typeface="IBM Plex Sans" charset="0"/>
              <a:cs typeface="IBM Plex Sans" charset="0"/>
            </a:endParaRPr>
          </a:p>
        </p:txBody>
      </p:sp>
      <p:sp>
        <p:nvSpPr>
          <p:cNvPr id="11" name="Shape 9"/>
          <p:cNvSpPr/>
          <p:nvPr/>
        </p:nvSpPr>
        <p:spPr>
          <a:xfrm>
            <a:off x="7978775" y="1753195"/>
            <a:ext cx="3397250" cy="2464693"/>
          </a:xfrm>
          <a:prstGeom prst="roundRect">
            <a:avLst>
              <a:gd name="adj" fmla="val 3993"/>
            </a:avLst>
          </a:prstGeom>
          <a:solidFill>
            <a:srgbClr val="FCFBF7"/>
          </a:solidFill>
          <a:ln w="6350">
            <a:solidFill>
              <a:srgbClr val="D9D3C4"/>
            </a:solidFill>
            <a:prstDash val="solid"/>
          </a:ln>
        </p:spPr>
      </p:sp>
      <p:sp>
        <p:nvSpPr>
          <p:cNvPr id="12" name="Text 10"/>
          <p:cNvSpPr/>
          <p:nvPr/>
        </p:nvSpPr>
        <p:spPr>
          <a:xfrm>
            <a:off x="8185150" y="1959570"/>
            <a:ext cx="307403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6F7E"/>
                </a:solidFill>
                <a:latin typeface="IBM Plex Sans" pitchFamily="34" charset="0"/>
                <a:ea typeface="IBM Plex Sans" pitchFamily="34" charset="-122"/>
                <a:cs typeface="IBM Plex Sans" pitchFamily="34" charset="-120"/>
              </a:rPr>
              <a:t>Leakage control</a:t>
            </a:r>
            <a:endParaRPr lang="en-US" sz="1600" dirty="0">
              <a:latin typeface="IBM Plex Sans" charset="0"/>
              <a:ea typeface="IBM Plex Sans" charset="0"/>
              <a:cs typeface="IBM Plex Sans" charset="0"/>
            </a:endParaRPr>
          </a:p>
        </p:txBody>
      </p:sp>
      <p:sp>
        <p:nvSpPr>
          <p:cNvPr id="13" name="Text 11"/>
          <p:cNvSpPr/>
          <p:nvPr/>
        </p:nvSpPr>
        <p:spPr>
          <a:xfrm>
            <a:off x="8283956" y="2304951"/>
            <a:ext cx="2967609" cy="1518642"/>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Preprocessing sits inside a pipeline fitted on training rows only</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Cross-validation refits it on every fold</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Stratified 80/20 split keeps 1.7% fraud in both parts</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Open risk: the threshold was chosen on the test set</a:t>
            </a:r>
            <a:endParaRPr lang="en-US" sz="1200" dirty="0">
              <a:latin typeface="IBM Plex Sans" charset="0"/>
              <a:ea typeface="IBM Plex Sans" charset="0"/>
              <a:cs typeface="IBM Plex Sans" charset="0"/>
            </a:endParaRPr>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7</a:t>
            </a:r>
            <a:endParaRPr lang="en-US" sz="1200" dirty="0">
              <a:latin typeface="IBM Plex Sans" charset="0"/>
              <a:ea typeface="IBM Plex Sans" charset="0"/>
              <a:cs typeface="IBM Plex Sans"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6 · MODELS TRIED</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Logistic regression at 0.25 is the model to beat</a:t>
            </a:r>
            <a:endParaRPr lang="en-US" sz="3000" dirty="0">
              <a:latin typeface="Source Serif 4" charset="0"/>
              <a:ea typeface="Source Serif 4" charset="0"/>
              <a:cs typeface="Source Serif 4"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11920"/>
          <a:ext cx="10553700" cy="2993231"/>
        </p:xfrm>
        <a:graphic>
          <a:graphicData uri="http://schemas.openxmlformats.org/drawingml/2006/table">
            <a:tbl>
              <a:tblPr/>
              <a:tblGrid>
                <a:gridCol w="4010406">
                  <a:extLst>
                    <a:ext uri="{9D8B030D-6E8A-4147-A177-3AD203B41FA5}">
                      <a16:colId xmlns:a16="http://schemas.microsoft.com/office/drawing/2014/main" val="20000"/>
                    </a:ext>
                  </a:extLst>
                </a:gridCol>
                <a:gridCol w="1266444">
                  <a:extLst>
                    <a:ext uri="{9D8B030D-6E8A-4147-A177-3AD203B41FA5}">
                      <a16:colId xmlns:a16="http://schemas.microsoft.com/office/drawing/2014/main" val="20001"/>
                    </a:ext>
                  </a:extLst>
                </a:gridCol>
                <a:gridCol w="1266444">
                  <a:extLst>
                    <a:ext uri="{9D8B030D-6E8A-4147-A177-3AD203B41FA5}">
                      <a16:colId xmlns:a16="http://schemas.microsoft.com/office/drawing/2014/main" val="20002"/>
                    </a:ext>
                  </a:extLst>
                </a:gridCol>
                <a:gridCol w="1477518">
                  <a:extLst>
                    <a:ext uri="{9D8B030D-6E8A-4147-A177-3AD203B41FA5}">
                      <a16:colId xmlns:a16="http://schemas.microsoft.com/office/drawing/2014/main" val="20003"/>
                    </a:ext>
                  </a:extLst>
                </a:gridCol>
                <a:gridCol w="1266444">
                  <a:extLst>
                    <a:ext uri="{9D8B030D-6E8A-4147-A177-3AD203B41FA5}">
                      <a16:colId xmlns:a16="http://schemas.microsoft.com/office/drawing/2014/main" val="20004"/>
                    </a:ext>
                  </a:extLst>
                </a:gridCol>
                <a:gridCol w="1266444">
                  <a:extLst>
                    <a:ext uri="{9D8B030D-6E8A-4147-A177-3AD203B41FA5}">
                      <a16:colId xmlns:a16="http://schemas.microsoft.com/office/drawing/2014/main" val="20005"/>
                    </a:ext>
                  </a:extLst>
                </a:gridCol>
              </a:tblGrid>
              <a:tr h="332581">
                <a:tc>
                  <a:txBody>
                    <a:bodyPr/>
                    <a:lstStyle/>
                    <a:p>
                      <a:pPr marL="0" indent="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Model (test set)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Cut-off</a:t>
                      </a:r>
                      <a:endParaRPr lang="en-US" sz="1200" dirty="0">
                        <a:latin typeface="IBM Plex Sans" charset="0"/>
                        <a:ea typeface="IBM Plex Sans" charset="0"/>
                        <a:cs typeface="IBM Plex Sans" charset="0"/>
                      </a:endParaRPr>
                    </a:p>
                  </a:txBody>
                  <a:tcPr marL="53340" marR="53340" marT="53340" marB="5334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F1</a:t>
                      </a:r>
                      <a:endParaRPr lang="en-US" sz="1200" dirty="0">
                        <a:latin typeface="IBM Plex Sans" charset="0"/>
                        <a:ea typeface="IBM Plex Sans" charset="0"/>
                        <a:cs typeface="IBM Plex Sans" charset="0"/>
                      </a:endParaRPr>
                    </a:p>
                  </a:txBody>
                  <a:tcPr marL="53340" marR="53340" marT="53340" marB="5334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Precision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Recall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Flagged</a:t>
                      </a:r>
                      <a:endParaRPr lang="en-US" sz="1200" dirty="0">
                        <a:latin typeface="IBM Plex Sans" charset="0"/>
                        <a:ea typeface="IBM Plex Sans" charset="0"/>
                        <a:cs typeface="IBM Plex Sans" charset="0"/>
                      </a:endParaRPr>
                    </a:p>
                  </a:txBody>
                  <a:tcPr marL="53340" marR="53340" marT="53340" marB="5334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Always approve (accuracy 98.3%)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0.000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Logistic regression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0.315</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0.667</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0.206</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21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Logistic regression (selected)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0.25</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0.524</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0.569</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0.485</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58</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Logistic regression, balanced weights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0.188</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0.107</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0.809</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516</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Decision tree, full depth</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0.204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0.190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0.221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Decision tree, depth 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0.000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Random forest, tuned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0.268</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0.288</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0.250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59</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Gradient boosting, tuned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0.250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0.164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0.529</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220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812800" y="4882952"/>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Ordered from simple to complex. At a 0.25 cut-off the forest scores F1 0.193 (439 flagged) and boosting 0.188 (495). The selected row’s cut-off was picked on the test set.</a:t>
            </a:r>
            <a:endParaRPr lang="en-US" sz="1200" dirty="0">
              <a:latin typeface="IBM Plex Sans" charset="0"/>
              <a:ea typeface="IBM Plex Sans" charset="0"/>
              <a:cs typeface="IBM Plex Sans" charset="0"/>
            </a:endParaRPr>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8</a:t>
            </a:r>
            <a:endParaRPr lang="en-US" sz="1200" dirty="0">
              <a:latin typeface="IBM Plex Sans" charset="0"/>
              <a:ea typeface="IBM Plex Sans" charset="0"/>
              <a:cs typeface="IBM Plex Sans"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7 · HYPERPARAMETER TUNING</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Class weighting mattered more than any tuning knob</a:t>
            </a:r>
            <a:endParaRPr lang="en-US" sz="3000" dirty="0">
              <a:latin typeface="Source Serif 4" charset="0"/>
              <a:ea typeface="Source Serif 4" charset="0"/>
              <a:cs typeface="Source Serif 4" charset="0"/>
            </a:endParaRPr>
          </a:p>
        </p:txBody>
      </p:sp>
      <p:sp>
        <p:nvSpPr>
          <p:cNvPr id="4" name="Text 2"/>
          <p:cNvSpPr/>
          <p:nvPr/>
        </p:nvSpPr>
        <p:spPr>
          <a:xfrm>
            <a:off x="812800" y="172462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275"/>
                </a:solidFill>
                <a:latin typeface="IBM Plex Sans" pitchFamily="34" charset="0"/>
                <a:ea typeface="IBM Plex Sans" pitchFamily="34" charset="-122"/>
                <a:cs typeface="IBM Plex Sans" pitchFamily="34" charset="-120"/>
              </a:rPr>
              <a:t>Grid search with 5-fold cross-validation, scored on F1, run on the training set only.</a:t>
            </a:r>
            <a:endParaRPr lang="en-US" sz="1300" dirty="0">
              <a:latin typeface="IBM Plex Sans" charset="0"/>
              <a:ea typeface="IBM Plex Sans" charset="0"/>
              <a:cs typeface="IBM Plex Sans" charset="0"/>
            </a:endParaRPr>
          </a:p>
        </p:txBody>
      </p:sp>
      <p:sp>
        <p:nvSpPr>
          <p:cNvPr id="5" name="Shape 3"/>
          <p:cNvSpPr/>
          <p:nvPr/>
        </p:nvSpPr>
        <p:spPr>
          <a:xfrm>
            <a:off x="815975" y="2162076"/>
            <a:ext cx="5200650" cy="2454870"/>
          </a:xfrm>
          <a:prstGeom prst="roundRect">
            <a:avLst>
              <a:gd name="adj" fmla="val 4009"/>
            </a:avLst>
          </a:prstGeom>
          <a:solidFill>
            <a:srgbClr val="FCFBF7"/>
          </a:solidFill>
          <a:ln w="6350">
            <a:solidFill>
              <a:srgbClr val="D9D3C4"/>
            </a:solidFill>
            <a:prstDash val="solid"/>
          </a:ln>
        </p:spPr>
      </p:sp>
      <p:sp>
        <p:nvSpPr>
          <p:cNvPr id="6" name="Text 4"/>
          <p:cNvSpPr/>
          <p:nvPr/>
        </p:nvSpPr>
        <p:spPr>
          <a:xfrm>
            <a:off x="1022350" y="2368451"/>
            <a:ext cx="49315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213A"/>
                </a:solidFill>
                <a:latin typeface="IBM Plex Sans" pitchFamily="34" charset="0"/>
                <a:ea typeface="IBM Plex Sans" pitchFamily="34" charset="-122"/>
                <a:cs typeface="IBM Plex Sans" pitchFamily="34" charset="-120"/>
              </a:rPr>
              <a:t>Gradient boosting: CV F1 by learning rate</a:t>
            </a:r>
            <a:endParaRPr lang="en-US" sz="1400" dirty="0">
              <a:latin typeface="IBM Plex Sans" charset="0"/>
              <a:ea typeface="IBM Plex Sans" charset="0"/>
              <a:cs typeface="IBM Plex Sans" charset="0"/>
            </a:endParaRPr>
          </a:p>
        </p:txBody>
      </p:sp>
      <p:sp>
        <p:nvSpPr>
          <p:cNvPr id="7" name="Text 5"/>
          <p:cNvSpPr/>
          <p:nvPr/>
        </p:nvSpPr>
        <p:spPr>
          <a:xfrm>
            <a:off x="1022350" y="2671961"/>
            <a:ext cx="749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0.30</a:t>
            </a:r>
            <a:endParaRPr lang="en-US" sz="1200" dirty="0">
              <a:latin typeface="IBM Plex Sans" charset="0"/>
              <a:ea typeface="IBM Plex Sans" charset="0"/>
              <a:cs typeface="IBM Plex Sans" charset="0"/>
            </a:endParaRPr>
          </a:p>
        </p:txBody>
      </p:sp>
      <p:sp>
        <p:nvSpPr>
          <p:cNvPr id="8" name="Shape 6"/>
          <p:cNvSpPr/>
          <p:nvPr/>
        </p:nvSpPr>
        <p:spPr>
          <a:xfrm>
            <a:off x="1822450" y="2670671"/>
            <a:ext cx="3098800" cy="215900"/>
          </a:xfrm>
          <a:prstGeom prst="roundRect">
            <a:avLst>
              <a:gd name="adj" fmla="val 17647"/>
            </a:avLst>
          </a:prstGeom>
          <a:solidFill>
            <a:srgbClr val="1D6F7E"/>
          </a:solidFill>
          <a:ln/>
        </p:spPr>
      </p:sp>
      <p:sp>
        <p:nvSpPr>
          <p:cNvPr id="9" name="Text 7"/>
          <p:cNvSpPr/>
          <p:nvPr/>
        </p:nvSpPr>
        <p:spPr>
          <a:xfrm>
            <a:off x="5022850" y="2671961"/>
            <a:ext cx="4936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0.271</a:t>
            </a:r>
            <a:endParaRPr lang="en-US" sz="1200" dirty="0">
              <a:latin typeface="IBM Plex Sans" charset="0"/>
              <a:ea typeface="IBM Plex Sans" charset="0"/>
              <a:cs typeface="IBM Plex Sans" charset="0"/>
            </a:endParaRPr>
          </a:p>
        </p:txBody>
      </p:sp>
      <p:sp>
        <p:nvSpPr>
          <p:cNvPr id="10" name="Text 8"/>
          <p:cNvSpPr/>
          <p:nvPr/>
        </p:nvSpPr>
        <p:spPr>
          <a:xfrm>
            <a:off x="1022350" y="2976761"/>
            <a:ext cx="749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0.20</a:t>
            </a:r>
            <a:endParaRPr lang="en-US" sz="1200" dirty="0">
              <a:latin typeface="IBM Plex Sans" charset="0"/>
              <a:ea typeface="IBM Plex Sans" charset="0"/>
              <a:cs typeface="IBM Plex Sans" charset="0"/>
            </a:endParaRPr>
          </a:p>
        </p:txBody>
      </p:sp>
      <p:sp>
        <p:nvSpPr>
          <p:cNvPr id="11" name="Shape 9"/>
          <p:cNvSpPr/>
          <p:nvPr/>
        </p:nvSpPr>
        <p:spPr>
          <a:xfrm>
            <a:off x="1822450" y="2975471"/>
            <a:ext cx="2959100" cy="215900"/>
          </a:xfrm>
          <a:prstGeom prst="roundRect">
            <a:avLst>
              <a:gd name="adj" fmla="val 17647"/>
            </a:avLst>
          </a:prstGeom>
          <a:solidFill>
            <a:srgbClr val="1D6F7E"/>
          </a:solidFill>
          <a:ln/>
        </p:spPr>
      </p:sp>
      <p:sp>
        <p:nvSpPr>
          <p:cNvPr id="12" name="Text 10"/>
          <p:cNvSpPr/>
          <p:nvPr/>
        </p:nvSpPr>
        <p:spPr>
          <a:xfrm>
            <a:off x="4883150" y="2976761"/>
            <a:ext cx="4936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0.259</a:t>
            </a:r>
            <a:endParaRPr lang="en-US" sz="1200" dirty="0">
              <a:latin typeface="IBM Plex Sans" charset="0"/>
              <a:ea typeface="IBM Plex Sans" charset="0"/>
              <a:cs typeface="IBM Plex Sans" charset="0"/>
            </a:endParaRPr>
          </a:p>
        </p:txBody>
      </p:sp>
      <p:sp>
        <p:nvSpPr>
          <p:cNvPr id="13" name="Text 11"/>
          <p:cNvSpPr/>
          <p:nvPr/>
        </p:nvSpPr>
        <p:spPr>
          <a:xfrm>
            <a:off x="1022350" y="3281561"/>
            <a:ext cx="749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0.10</a:t>
            </a:r>
            <a:endParaRPr lang="en-US" sz="1200" dirty="0">
              <a:latin typeface="IBM Plex Sans" charset="0"/>
              <a:ea typeface="IBM Plex Sans" charset="0"/>
              <a:cs typeface="IBM Plex Sans" charset="0"/>
            </a:endParaRPr>
          </a:p>
        </p:txBody>
      </p:sp>
      <p:sp>
        <p:nvSpPr>
          <p:cNvPr id="14" name="Shape 12"/>
          <p:cNvSpPr/>
          <p:nvPr/>
        </p:nvSpPr>
        <p:spPr>
          <a:xfrm>
            <a:off x="1822450" y="3280271"/>
            <a:ext cx="2667000" cy="215900"/>
          </a:xfrm>
          <a:prstGeom prst="roundRect">
            <a:avLst>
              <a:gd name="adj" fmla="val 17647"/>
            </a:avLst>
          </a:prstGeom>
          <a:solidFill>
            <a:srgbClr val="1D6F7E"/>
          </a:solidFill>
          <a:ln/>
        </p:spPr>
      </p:sp>
      <p:sp>
        <p:nvSpPr>
          <p:cNvPr id="15" name="Text 13"/>
          <p:cNvSpPr/>
          <p:nvPr/>
        </p:nvSpPr>
        <p:spPr>
          <a:xfrm>
            <a:off x="4591050" y="3281561"/>
            <a:ext cx="4936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0.233</a:t>
            </a:r>
            <a:endParaRPr lang="en-US" sz="1200" dirty="0">
              <a:latin typeface="IBM Plex Sans" charset="0"/>
              <a:ea typeface="IBM Plex Sans" charset="0"/>
              <a:cs typeface="IBM Plex Sans" charset="0"/>
            </a:endParaRPr>
          </a:p>
        </p:txBody>
      </p:sp>
      <p:sp>
        <p:nvSpPr>
          <p:cNvPr id="16" name="Text 14"/>
          <p:cNvSpPr/>
          <p:nvPr/>
        </p:nvSpPr>
        <p:spPr>
          <a:xfrm>
            <a:off x="1022350" y="3586361"/>
            <a:ext cx="749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0.05</a:t>
            </a:r>
            <a:endParaRPr lang="en-US" sz="1200" dirty="0">
              <a:latin typeface="IBM Plex Sans" charset="0"/>
              <a:ea typeface="IBM Plex Sans" charset="0"/>
              <a:cs typeface="IBM Plex Sans" charset="0"/>
            </a:endParaRPr>
          </a:p>
        </p:txBody>
      </p:sp>
      <p:sp>
        <p:nvSpPr>
          <p:cNvPr id="17" name="Shape 15"/>
          <p:cNvSpPr/>
          <p:nvPr/>
        </p:nvSpPr>
        <p:spPr>
          <a:xfrm>
            <a:off x="1822450" y="3585071"/>
            <a:ext cx="2432050" cy="215900"/>
          </a:xfrm>
          <a:prstGeom prst="roundRect">
            <a:avLst>
              <a:gd name="adj" fmla="val 17647"/>
            </a:avLst>
          </a:prstGeom>
          <a:solidFill>
            <a:srgbClr val="1D6F7E"/>
          </a:solidFill>
          <a:ln/>
        </p:spPr>
      </p:sp>
      <p:sp>
        <p:nvSpPr>
          <p:cNvPr id="18" name="Text 16"/>
          <p:cNvSpPr/>
          <p:nvPr/>
        </p:nvSpPr>
        <p:spPr>
          <a:xfrm>
            <a:off x="4356100" y="3586361"/>
            <a:ext cx="4936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0.213</a:t>
            </a:r>
            <a:endParaRPr lang="en-US" sz="1200" dirty="0">
              <a:latin typeface="IBM Plex Sans" charset="0"/>
              <a:ea typeface="IBM Plex Sans" charset="0"/>
              <a:cs typeface="IBM Plex Sans" charset="0"/>
            </a:endParaRPr>
          </a:p>
        </p:txBody>
      </p:sp>
      <p:sp>
        <p:nvSpPr>
          <p:cNvPr id="19" name="Text 17"/>
          <p:cNvSpPr/>
          <p:nvPr/>
        </p:nvSpPr>
        <p:spPr>
          <a:xfrm>
            <a:off x="1022350" y="3891161"/>
            <a:ext cx="749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0.03</a:t>
            </a:r>
            <a:endParaRPr lang="en-US" sz="1200" dirty="0">
              <a:latin typeface="IBM Plex Sans" charset="0"/>
              <a:ea typeface="IBM Plex Sans" charset="0"/>
              <a:cs typeface="IBM Plex Sans" charset="0"/>
            </a:endParaRPr>
          </a:p>
        </p:txBody>
      </p:sp>
      <p:sp>
        <p:nvSpPr>
          <p:cNvPr id="20" name="Shape 18"/>
          <p:cNvSpPr/>
          <p:nvPr/>
        </p:nvSpPr>
        <p:spPr>
          <a:xfrm>
            <a:off x="1822450" y="3889871"/>
            <a:ext cx="2305050" cy="215900"/>
          </a:xfrm>
          <a:prstGeom prst="roundRect">
            <a:avLst>
              <a:gd name="adj" fmla="val 17647"/>
            </a:avLst>
          </a:prstGeom>
          <a:solidFill>
            <a:srgbClr val="1D6F7E"/>
          </a:solidFill>
          <a:ln/>
        </p:spPr>
      </p:sp>
      <p:sp>
        <p:nvSpPr>
          <p:cNvPr id="21" name="Text 19"/>
          <p:cNvSpPr/>
          <p:nvPr/>
        </p:nvSpPr>
        <p:spPr>
          <a:xfrm>
            <a:off x="4229100" y="3891161"/>
            <a:ext cx="4936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0.202</a:t>
            </a:r>
            <a:endParaRPr lang="en-US" sz="1200" dirty="0">
              <a:latin typeface="IBM Plex Sans" charset="0"/>
              <a:ea typeface="IBM Plex Sans" charset="0"/>
              <a:cs typeface="IBM Plex Sans" charset="0"/>
            </a:endParaRPr>
          </a:p>
        </p:txBody>
      </p:sp>
      <p:sp>
        <p:nvSpPr>
          <p:cNvPr id="22" name="Text 20"/>
          <p:cNvSpPr/>
          <p:nvPr/>
        </p:nvSpPr>
        <p:spPr>
          <a:xfrm>
            <a:off x="1022350" y="4195961"/>
            <a:ext cx="749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0.01</a:t>
            </a:r>
            <a:endParaRPr lang="en-US" sz="1200" dirty="0">
              <a:latin typeface="IBM Plex Sans" charset="0"/>
              <a:ea typeface="IBM Plex Sans" charset="0"/>
              <a:cs typeface="IBM Plex Sans" charset="0"/>
            </a:endParaRPr>
          </a:p>
        </p:txBody>
      </p:sp>
      <p:sp>
        <p:nvSpPr>
          <p:cNvPr id="23" name="Shape 21"/>
          <p:cNvSpPr/>
          <p:nvPr/>
        </p:nvSpPr>
        <p:spPr>
          <a:xfrm>
            <a:off x="1822450" y="4194671"/>
            <a:ext cx="2254250" cy="215900"/>
          </a:xfrm>
          <a:prstGeom prst="roundRect">
            <a:avLst>
              <a:gd name="adj" fmla="val 17647"/>
            </a:avLst>
          </a:prstGeom>
          <a:solidFill>
            <a:srgbClr val="1D6F7E"/>
          </a:solidFill>
          <a:ln/>
        </p:spPr>
      </p:sp>
      <p:sp>
        <p:nvSpPr>
          <p:cNvPr id="24" name="Text 22"/>
          <p:cNvSpPr/>
          <p:nvPr/>
        </p:nvSpPr>
        <p:spPr>
          <a:xfrm>
            <a:off x="4178300" y="4195961"/>
            <a:ext cx="4936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0.197</a:t>
            </a:r>
            <a:endParaRPr lang="en-US" sz="1200" dirty="0">
              <a:latin typeface="IBM Plex Sans" charset="0"/>
              <a:ea typeface="IBM Plex Sans" charset="0"/>
              <a:cs typeface="IBM Plex Sans" charset="0"/>
            </a:endParaRPr>
          </a:p>
        </p:txBody>
      </p:sp>
      <p:sp>
        <p:nvSpPr>
          <p:cNvPr id="25" name="Shape 23"/>
          <p:cNvSpPr/>
          <p:nvPr/>
        </p:nvSpPr>
        <p:spPr>
          <a:xfrm>
            <a:off x="6343650" y="2158901"/>
            <a:ext cx="0" cy="728861"/>
          </a:xfrm>
          <a:prstGeom prst="line">
            <a:avLst/>
          </a:prstGeom>
          <a:noFill/>
          <a:ln w="38100">
            <a:solidFill>
              <a:srgbClr val="B8441A"/>
            </a:solidFill>
            <a:prstDash val="solid"/>
          </a:ln>
        </p:spPr>
      </p:sp>
      <p:sp>
        <p:nvSpPr>
          <p:cNvPr id="26" name="Text 24"/>
          <p:cNvSpPr/>
          <p:nvPr/>
        </p:nvSpPr>
        <p:spPr>
          <a:xfrm>
            <a:off x="6515100" y="2184301"/>
            <a:ext cx="501002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41A"/>
                </a:solidFill>
                <a:latin typeface="IBM Plex Sans" pitchFamily="34" charset="0"/>
                <a:ea typeface="IBM Plex Sans" pitchFamily="34" charset="-122"/>
                <a:cs typeface="IBM Plex Sans" pitchFamily="34" charset="-120"/>
              </a:rPr>
              <a:t>Biggest effect: class weighting</a:t>
            </a:r>
            <a:endParaRPr lang="en-US" sz="1200" dirty="0">
              <a:latin typeface="IBM Plex Sans" charset="0"/>
              <a:ea typeface="IBM Plex Sans" charset="0"/>
              <a:cs typeface="IBM Plex Sans" charset="0"/>
            </a:endParaRPr>
          </a:p>
        </p:txBody>
      </p:sp>
      <p:sp>
        <p:nvSpPr>
          <p:cNvPr id="27" name="Text 25"/>
          <p:cNvSpPr/>
          <p:nvPr/>
        </p:nvSpPr>
        <p:spPr>
          <a:xfrm>
            <a:off x="6515100" y="2435721"/>
            <a:ext cx="501002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Random forest CV F1 was 0.000 without balanced weights and 0.324 with them.</a:t>
            </a:r>
            <a:endParaRPr lang="en-US" sz="1200" dirty="0">
              <a:latin typeface="IBM Plex Sans" charset="0"/>
              <a:ea typeface="IBM Plex Sans" charset="0"/>
              <a:cs typeface="IBM Plex Sans" charset="0"/>
            </a:endParaRPr>
          </a:p>
        </p:txBody>
      </p:sp>
      <p:sp>
        <p:nvSpPr>
          <p:cNvPr id="28" name="Shape 26"/>
          <p:cNvSpPr/>
          <p:nvPr/>
        </p:nvSpPr>
        <p:spPr>
          <a:xfrm>
            <a:off x="6343650" y="3014762"/>
            <a:ext cx="0" cy="728861"/>
          </a:xfrm>
          <a:prstGeom prst="line">
            <a:avLst/>
          </a:prstGeom>
          <a:noFill/>
          <a:ln w="38100">
            <a:solidFill>
              <a:srgbClr val="1D6F7E"/>
            </a:solidFill>
            <a:prstDash val="solid"/>
          </a:ln>
        </p:spPr>
      </p:sp>
      <p:sp>
        <p:nvSpPr>
          <p:cNvPr id="29" name="Text 27"/>
          <p:cNvSpPr/>
          <p:nvPr/>
        </p:nvSpPr>
        <p:spPr>
          <a:xfrm>
            <a:off x="6515100" y="3040162"/>
            <a:ext cx="501002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7E"/>
                </a:solidFill>
                <a:latin typeface="IBM Plex Sans" pitchFamily="34" charset="0"/>
                <a:ea typeface="IBM Plex Sans" pitchFamily="34" charset="-122"/>
                <a:cs typeface="IBM Plex Sans" pitchFamily="34" charset="-120"/>
              </a:rPr>
              <a:t>Forest depth and boosting speed</a:t>
            </a:r>
            <a:endParaRPr lang="en-US" sz="1200" dirty="0">
              <a:latin typeface="IBM Plex Sans" charset="0"/>
              <a:ea typeface="IBM Plex Sans" charset="0"/>
              <a:cs typeface="IBM Plex Sans" charset="0"/>
            </a:endParaRPr>
          </a:p>
        </p:txBody>
      </p:sp>
      <p:sp>
        <p:nvSpPr>
          <p:cNvPr id="30" name="Text 28"/>
          <p:cNvSpPr/>
          <p:nvPr/>
        </p:nvSpPr>
        <p:spPr>
          <a:xfrm>
            <a:off x="6515100" y="3291582"/>
            <a:ext cx="501002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Unlimited depth beat depth 10 (0.324 vs 0.280). Faster learning rates won; iterations made no difference at 0.20.</a:t>
            </a:r>
            <a:endParaRPr lang="en-US" sz="1200" dirty="0">
              <a:latin typeface="IBM Plex Sans" charset="0"/>
              <a:ea typeface="IBM Plex Sans" charset="0"/>
              <a:cs typeface="IBM Plex Sans" charset="0"/>
            </a:endParaRPr>
          </a:p>
        </p:txBody>
      </p:sp>
      <p:sp>
        <p:nvSpPr>
          <p:cNvPr id="31" name="Shape 29"/>
          <p:cNvSpPr/>
          <p:nvPr/>
        </p:nvSpPr>
        <p:spPr>
          <a:xfrm>
            <a:off x="6343650" y="3870623"/>
            <a:ext cx="0" cy="942181"/>
          </a:xfrm>
          <a:prstGeom prst="line">
            <a:avLst/>
          </a:prstGeom>
          <a:noFill/>
          <a:ln w="38100">
            <a:solidFill>
              <a:srgbClr val="1D6F7E"/>
            </a:solidFill>
            <a:prstDash val="solid"/>
          </a:ln>
        </p:spPr>
      </p:sp>
      <p:sp>
        <p:nvSpPr>
          <p:cNvPr id="32" name="Text 30"/>
          <p:cNvSpPr/>
          <p:nvPr/>
        </p:nvSpPr>
        <p:spPr>
          <a:xfrm>
            <a:off x="6515100" y="3896023"/>
            <a:ext cx="501002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7E"/>
                </a:solidFill>
                <a:latin typeface="IBM Plex Sans" pitchFamily="34" charset="0"/>
                <a:ea typeface="IBM Plex Sans" pitchFamily="34" charset="-122"/>
                <a:cs typeface="IBM Plex Sans" pitchFamily="34" charset="-120"/>
              </a:rPr>
              <a:t>Our reading</a:t>
            </a:r>
            <a:endParaRPr lang="en-US" sz="1200" dirty="0">
              <a:latin typeface="IBM Plex Sans" charset="0"/>
              <a:ea typeface="IBM Plex Sans" charset="0"/>
              <a:cs typeface="IBM Plex Sans" charset="0"/>
            </a:endParaRPr>
          </a:p>
        </p:txBody>
      </p:sp>
      <p:sp>
        <p:nvSpPr>
          <p:cNvPr id="33" name="Text 31"/>
          <p:cNvSpPr/>
          <p:nvPr/>
        </p:nvSpPr>
        <p:spPr>
          <a:xfrm>
            <a:off x="6515100" y="4147443"/>
            <a:ext cx="501002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With about 270 training frauds, shallow or slow learners see too little of the rare class. Tuned forest 0.324 ± 0.032 vs logistic 0.315 ± 0.068: a tie.</a:t>
            </a:r>
            <a:endParaRPr lang="en-US" sz="1200" dirty="0">
              <a:latin typeface="IBM Plex Sans" charset="0"/>
              <a:ea typeface="IBM Plex Sans" charset="0"/>
              <a:cs typeface="IBM Plex Sans" charset="0"/>
            </a:endParaRPr>
          </a:p>
        </p:txBody>
      </p:sp>
      <p:sp>
        <p:nvSpPr>
          <p:cNvPr id="34" name="Text 3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9</a:t>
            </a:r>
            <a:endParaRPr lang="en-US" sz="1200" dirty="0">
              <a:latin typeface="IBM Plex Sans" charset="0"/>
              <a:ea typeface="IBM Plex Sans" charset="0"/>
              <a:cs typeface="IBM Plex Sans"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8 · EVALUATION METRICS</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Recall and precision, traded off at a chosen cut-off</a:t>
            </a:r>
            <a:endParaRPr lang="en-US" sz="3000" dirty="0">
              <a:latin typeface="Source Serif 4" charset="0"/>
              <a:ea typeface="Source Serif 4" charset="0"/>
              <a:cs typeface="Source Serif 4" charset="0"/>
            </a:endParaRPr>
          </a:p>
        </p:txBody>
      </p:sp>
      <p:sp>
        <p:nvSpPr>
          <p:cNvPr id="4" name="Shape 2"/>
          <p:cNvSpPr/>
          <p:nvPr/>
        </p:nvSpPr>
        <p:spPr>
          <a:xfrm>
            <a:off x="831850" y="1750020"/>
            <a:ext cx="0" cy="495201"/>
          </a:xfrm>
          <a:prstGeom prst="line">
            <a:avLst/>
          </a:prstGeom>
          <a:noFill/>
          <a:ln w="38100">
            <a:solidFill>
              <a:srgbClr val="B8441A"/>
            </a:solidFill>
            <a:prstDash val="solid"/>
          </a:ln>
        </p:spPr>
      </p:sp>
      <p:sp>
        <p:nvSpPr>
          <p:cNvPr id="5" name="Text 3"/>
          <p:cNvSpPr/>
          <p:nvPr/>
        </p:nvSpPr>
        <p:spPr>
          <a:xfrm>
            <a:off x="1003300" y="1762720"/>
            <a:ext cx="43821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8441A"/>
                </a:solidFill>
                <a:latin typeface="IBM Plex Sans" pitchFamily="34" charset="0"/>
                <a:ea typeface="IBM Plex Sans" pitchFamily="34" charset="-122"/>
                <a:cs typeface="IBM Plex Sans" pitchFamily="34" charset="-120"/>
              </a:rPr>
              <a:t>Accuracy: ignored</a:t>
            </a:r>
            <a:endParaRPr lang="en-US" sz="1300" dirty="0">
              <a:latin typeface="IBM Plex Sans" charset="0"/>
              <a:ea typeface="IBM Plex Sans" charset="0"/>
              <a:cs typeface="IBM Plex Sans" charset="0"/>
            </a:endParaRPr>
          </a:p>
        </p:txBody>
      </p:sp>
      <p:sp>
        <p:nvSpPr>
          <p:cNvPr id="6" name="Text 4"/>
          <p:cNvSpPr/>
          <p:nvPr/>
        </p:nvSpPr>
        <p:spPr>
          <a:xfrm>
            <a:off x="1003300" y="2019201"/>
            <a:ext cx="438213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Doing nothing already scores 98.3%.</a:t>
            </a:r>
            <a:endParaRPr lang="en-US" sz="1200" dirty="0">
              <a:latin typeface="IBM Plex Sans" charset="0"/>
              <a:ea typeface="IBM Plex Sans" charset="0"/>
              <a:cs typeface="IBM Plex Sans" charset="0"/>
            </a:endParaRPr>
          </a:p>
        </p:txBody>
      </p:sp>
      <p:sp>
        <p:nvSpPr>
          <p:cNvPr id="7" name="Shape 5"/>
          <p:cNvSpPr/>
          <p:nvPr/>
        </p:nvSpPr>
        <p:spPr>
          <a:xfrm>
            <a:off x="831850" y="2359521"/>
            <a:ext cx="0" cy="495201"/>
          </a:xfrm>
          <a:prstGeom prst="line">
            <a:avLst/>
          </a:prstGeom>
          <a:noFill/>
          <a:ln w="38100">
            <a:solidFill>
              <a:srgbClr val="1D6F7E"/>
            </a:solidFill>
            <a:prstDash val="solid"/>
          </a:ln>
        </p:spPr>
      </p:sp>
      <p:sp>
        <p:nvSpPr>
          <p:cNvPr id="8" name="Text 6"/>
          <p:cNvSpPr/>
          <p:nvPr/>
        </p:nvSpPr>
        <p:spPr>
          <a:xfrm>
            <a:off x="1003300" y="2372221"/>
            <a:ext cx="43821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6F7E"/>
                </a:solidFill>
                <a:latin typeface="IBM Plex Sans" pitchFamily="34" charset="0"/>
                <a:ea typeface="IBM Plex Sans" pitchFamily="34" charset="-122"/>
                <a:cs typeface="IBM Plex Sans" pitchFamily="34" charset="-120"/>
              </a:rPr>
              <a:t>Recall: share of frauds caught</a:t>
            </a:r>
            <a:endParaRPr lang="en-US" sz="1300" dirty="0">
              <a:latin typeface="IBM Plex Sans" charset="0"/>
              <a:ea typeface="IBM Plex Sans" charset="0"/>
              <a:cs typeface="IBM Plex Sans" charset="0"/>
            </a:endParaRPr>
          </a:p>
        </p:txBody>
      </p:sp>
      <p:sp>
        <p:nvSpPr>
          <p:cNvPr id="9" name="Text 7"/>
          <p:cNvSpPr/>
          <p:nvPr/>
        </p:nvSpPr>
        <p:spPr>
          <a:xfrm>
            <a:off x="1003300" y="2628702"/>
            <a:ext cx="438213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The loss-prevention metric.</a:t>
            </a:r>
            <a:endParaRPr lang="en-US" sz="1200" dirty="0">
              <a:latin typeface="IBM Plex Sans" charset="0"/>
              <a:ea typeface="IBM Plex Sans" charset="0"/>
              <a:cs typeface="IBM Plex Sans" charset="0"/>
            </a:endParaRPr>
          </a:p>
        </p:txBody>
      </p:sp>
      <p:sp>
        <p:nvSpPr>
          <p:cNvPr id="10" name="Shape 8"/>
          <p:cNvSpPr/>
          <p:nvPr/>
        </p:nvSpPr>
        <p:spPr>
          <a:xfrm>
            <a:off x="831850" y="2969022"/>
            <a:ext cx="0" cy="495201"/>
          </a:xfrm>
          <a:prstGeom prst="line">
            <a:avLst/>
          </a:prstGeom>
          <a:noFill/>
          <a:ln w="38100">
            <a:solidFill>
              <a:srgbClr val="1D6F7E"/>
            </a:solidFill>
            <a:prstDash val="solid"/>
          </a:ln>
        </p:spPr>
      </p:sp>
      <p:sp>
        <p:nvSpPr>
          <p:cNvPr id="11" name="Text 9"/>
          <p:cNvSpPr/>
          <p:nvPr/>
        </p:nvSpPr>
        <p:spPr>
          <a:xfrm>
            <a:off x="1003300" y="2981722"/>
            <a:ext cx="43821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6F7E"/>
                </a:solidFill>
                <a:latin typeface="IBM Plex Sans" pitchFamily="34" charset="0"/>
                <a:ea typeface="IBM Plex Sans" pitchFamily="34" charset="-122"/>
                <a:cs typeface="IBM Plex Sans" pitchFamily="34" charset="-120"/>
              </a:rPr>
              <a:t>Precision: share of flags that are real</a:t>
            </a:r>
            <a:endParaRPr lang="en-US" sz="1300" dirty="0">
              <a:latin typeface="IBM Plex Sans" charset="0"/>
              <a:ea typeface="IBM Plex Sans" charset="0"/>
              <a:cs typeface="IBM Plex Sans" charset="0"/>
            </a:endParaRPr>
          </a:p>
        </p:txBody>
      </p:sp>
      <p:sp>
        <p:nvSpPr>
          <p:cNvPr id="12" name="Text 10"/>
          <p:cNvSpPr/>
          <p:nvPr/>
        </p:nvSpPr>
        <p:spPr>
          <a:xfrm>
            <a:off x="1003300" y="3238202"/>
            <a:ext cx="438213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The reviewer-time metric.</a:t>
            </a:r>
            <a:endParaRPr lang="en-US" sz="1200" dirty="0">
              <a:latin typeface="IBM Plex Sans" charset="0"/>
              <a:ea typeface="IBM Plex Sans" charset="0"/>
              <a:cs typeface="IBM Plex Sans" charset="0"/>
            </a:endParaRPr>
          </a:p>
        </p:txBody>
      </p:sp>
      <p:sp>
        <p:nvSpPr>
          <p:cNvPr id="13" name="Shape 11"/>
          <p:cNvSpPr/>
          <p:nvPr/>
        </p:nvSpPr>
        <p:spPr>
          <a:xfrm>
            <a:off x="831850" y="3578523"/>
            <a:ext cx="0" cy="495201"/>
          </a:xfrm>
          <a:prstGeom prst="line">
            <a:avLst/>
          </a:prstGeom>
          <a:noFill/>
          <a:ln w="38100">
            <a:solidFill>
              <a:srgbClr val="1D6F7E"/>
            </a:solidFill>
            <a:prstDash val="solid"/>
          </a:ln>
        </p:spPr>
      </p:sp>
      <p:sp>
        <p:nvSpPr>
          <p:cNvPr id="14" name="Text 12"/>
          <p:cNvSpPr/>
          <p:nvPr/>
        </p:nvSpPr>
        <p:spPr>
          <a:xfrm>
            <a:off x="1003300" y="3591223"/>
            <a:ext cx="43821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6F7E"/>
                </a:solidFill>
                <a:latin typeface="IBM Plex Sans" pitchFamily="34" charset="0"/>
                <a:ea typeface="IBM Plex Sans" pitchFamily="34" charset="-122"/>
                <a:cs typeface="IBM Plex Sans" pitchFamily="34" charset="-120"/>
              </a:rPr>
              <a:t>F1: one score for both</a:t>
            </a:r>
            <a:endParaRPr lang="en-US" sz="1300" dirty="0">
              <a:latin typeface="IBM Plex Sans" charset="0"/>
              <a:ea typeface="IBM Plex Sans" charset="0"/>
              <a:cs typeface="IBM Plex Sans" charset="0"/>
            </a:endParaRPr>
          </a:p>
        </p:txBody>
      </p:sp>
      <p:sp>
        <p:nvSpPr>
          <p:cNvPr id="15" name="Text 13"/>
          <p:cNvSpPr/>
          <p:nvPr/>
        </p:nvSpPr>
        <p:spPr>
          <a:xfrm>
            <a:off x="1003300" y="3847703"/>
            <a:ext cx="438213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Used to compare models.</a:t>
            </a:r>
            <a:endParaRPr lang="en-US" sz="1200" dirty="0">
              <a:latin typeface="IBM Plex Sans" charset="0"/>
              <a:ea typeface="IBM Plex Sans" charset="0"/>
              <a:cs typeface="IBM Plex Sans" charset="0"/>
            </a:endParaRPr>
          </a:p>
        </p:txBody>
      </p:sp>
      <p:sp>
        <p:nvSpPr>
          <p:cNvPr id="16" name="Shape 14"/>
          <p:cNvSpPr/>
          <p:nvPr/>
        </p:nvSpPr>
        <p:spPr>
          <a:xfrm>
            <a:off x="831850" y="4188023"/>
            <a:ext cx="0" cy="495201"/>
          </a:xfrm>
          <a:prstGeom prst="line">
            <a:avLst/>
          </a:prstGeom>
          <a:noFill/>
          <a:ln w="38100">
            <a:solidFill>
              <a:srgbClr val="1D6F7E"/>
            </a:solidFill>
            <a:prstDash val="solid"/>
          </a:ln>
        </p:spPr>
      </p:sp>
      <p:sp>
        <p:nvSpPr>
          <p:cNvPr id="17" name="Text 15"/>
          <p:cNvSpPr/>
          <p:nvPr/>
        </p:nvSpPr>
        <p:spPr>
          <a:xfrm>
            <a:off x="1003300" y="4200723"/>
            <a:ext cx="43821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6F7E"/>
                </a:solidFill>
                <a:latin typeface="IBM Plex Sans" pitchFamily="34" charset="0"/>
                <a:ea typeface="IBM Plex Sans" pitchFamily="34" charset="-122"/>
                <a:cs typeface="IBM Plex Sans" pitchFamily="34" charset="-120"/>
              </a:rPr>
              <a:t>Capacity: about 60 flags per 4,000</a:t>
            </a:r>
            <a:endParaRPr lang="en-US" sz="1300" dirty="0">
              <a:latin typeface="IBM Plex Sans" charset="0"/>
              <a:ea typeface="IBM Plex Sans" charset="0"/>
              <a:cs typeface="IBM Plex Sans" charset="0"/>
            </a:endParaRPr>
          </a:p>
        </p:txBody>
      </p:sp>
      <p:sp>
        <p:nvSpPr>
          <p:cNvPr id="18" name="Text 16"/>
          <p:cNvSpPr/>
          <p:nvPr/>
        </p:nvSpPr>
        <p:spPr>
          <a:xfrm>
            <a:off x="1003300" y="4457204"/>
            <a:ext cx="438213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3A"/>
                </a:solidFill>
                <a:latin typeface="IBM Plex Sans" pitchFamily="34" charset="0"/>
                <a:ea typeface="IBM Plex Sans" pitchFamily="34" charset="-122"/>
                <a:cs typeface="IBM Plex Sans" pitchFamily="34" charset="-120"/>
              </a:rPr>
              <a:t>The hard business limit, 1.5% of volume.</a:t>
            </a:r>
            <a:endParaRPr lang="en-US" sz="1200" dirty="0">
              <a:latin typeface="IBM Plex Sans" charset="0"/>
              <a:ea typeface="IBM Plex Sans" charset="0"/>
              <a:cs typeface="IBM Plex Sans" charset="0"/>
            </a:endParaRPr>
          </a:p>
        </p:txBody>
      </p:sp>
      <p:sp>
        <p:nvSpPr>
          <p:cNvPr id="19" name="Text 17"/>
          <p:cNvSpPr/>
          <p:nvPr/>
        </p:nvSpPr>
        <p:spPr>
          <a:xfrm>
            <a:off x="5562600" y="1750020"/>
            <a:ext cx="599109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13A"/>
                </a:solidFill>
                <a:latin typeface="IBM Plex Sans" pitchFamily="34" charset="0"/>
                <a:ea typeface="IBM Plex Sans" pitchFamily="34" charset="-122"/>
                <a:cs typeface="IBM Plex Sans" pitchFamily="34" charset="-120"/>
              </a:rPr>
              <a:t>Logistic regression, test set: lowering the cut-off buys recall and costs precision.</a:t>
            </a:r>
            <a:endParaRPr lang="en-US" sz="1300" dirty="0">
              <a:latin typeface="IBM Plex Sans" charset="0"/>
              <a:ea typeface="IBM Plex Sans" charset="0"/>
              <a:cs typeface="IBM Plex Sans" charset="0"/>
            </a:endParaRPr>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575300" y="2326481"/>
          <a:ext cx="5803900" cy="2514898"/>
        </p:xfrm>
        <a:graphic>
          <a:graphicData uri="http://schemas.openxmlformats.org/drawingml/2006/table">
            <a:tbl>
              <a:tblPr/>
              <a:tblGrid>
                <a:gridCol w="1160780">
                  <a:extLst>
                    <a:ext uri="{9D8B030D-6E8A-4147-A177-3AD203B41FA5}">
                      <a16:colId xmlns:a16="http://schemas.microsoft.com/office/drawing/2014/main" val="20000"/>
                    </a:ext>
                  </a:extLst>
                </a:gridCol>
                <a:gridCol w="1160780">
                  <a:extLst>
                    <a:ext uri="{9D8B030D-6E8A-4147-A177-3AD203B41FA5}">
                      <a16:colId xmlns:a16="http://schemas.microsoft.com/office/drawing/2014/main" val="20001"/>
                    </a:ext>
                  </a:extLst>
                </a:gridCol>
                <a:gridCol w="1160780">
                  <a:extLst>
                    <a:ext uri="{9D8B030D-6E8A-4147-A177-3AD203B41FA5}">
                      <a16:colId xmlns:a16="http://schemas.microsoft.com/office/drawing/2014/main" val="20002"/>
                    </a:ext>
                  </a:extLst>
                </a:gridCol>
                <a:gridCol w="1160780">
                  <a:extLst>
                    <a:ext uri="{9D8B030D-6E8A-4147-A177-3AD203B41FA5}">
                      <a16:colId xmlns:a16="http://schemas.microsoft.com/office/drawing/2014/main" val="20003"/>
                    </a:ext>
                  </a:extLst>
                </a:gridCol>
                <a:gridCol w="1160780">
                  <a:extLst>
                    <a:ext uri="{9D8B030D-6E8A-4147-A177-3AD203B41FA5}">
                      <a16:colId xmlns:a16="http://schemas.microsoft.com/office/drawing/2014/main" val="20004"/>
                    </a:ext>
                  </a:extLst>
                </a:gridCol>
              </a:tblGrid>
              <a:tr h="359271">
                <a:tc>
                  <a:txBody>
                    <a:bodyPr/>
                    <a:lstStyle/>
                    <a:p>
                      <a:pPr marL="0" indent="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Cut-off</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Precision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Recall</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F1</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Flagged</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0.19</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0.410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0.500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0.450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83</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0.25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0.569</a:t>
                      </a:r>
                      <a:endParaRPr lang="en-US" sz="1300" dirty="0">
                        <a:latin typeface="IBM Plex Sans" charset="0"/>
                        <a:ea typeface="IBM Plex Sans" charset="0"/>
                        <a:cs typeface="IBM Plex Sans" charset="0"/>
                      </a:endParaRPr>
                    </a:p>
                  </a:txBody>
                  <a:tcPr marL="57785" marR="57785" marT="57785" marB="57785">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0.485</a:t>
                      </a:r>
                      <a:endParaRPr lang="en-US" sz="1300" dirty="0">
                        <a:latin typeface="IBM Plex Sans" charset="0"/>
                        <a:ea typeface="IBM Plex Sans" charset="0"/>
                        <a:cs typeface="IBM Plex Sans" charset="0"/>
                      </a:endParaRPr>
                    </a:p>
                  </a:txBody>
                  <a:tcPr marL="57785" marR="57785" marT="57785" marB="57785">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0.524</a:t>
                      </a:r>
                      <a:endParaRPr lang="en-US" sz="1300" dirty="0">
                        <a:latin typeface="IBM Plex Sans" charset="0"/>
                        <a:ea typeface="IBM Plex Sans" charset="0"/>
                        <a:cs typeface="IBM Plex Sans" charset="0"/>
                      </a:endParaRPr>
                    </a:p>
                  </a:txBody>
                  <a:tcPr marL="57785" marR="57785" marT="57785" marB="57785">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58</a:t>
                      </a:r>
                      <a:endParaRPr lang="en-US" sz="1300" dirty="0">
                        <a:latin typeface="IBM Plex Sans" charset="0"/>
                        <a:ea typeface="IBM Plex Sans" charset="0"/>
                        <a:cs typeface="IBM Plex Sans" charset="0"/>
                      </a:endParaRPr>
                    </a:p>
                  </a:txBody>
                  <a:tcPr marL="57785" marR="57785" marT="57785" marB="57785">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0.29</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0.580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0.426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0.492</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50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0.39</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0.581</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0.265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0.364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31</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0.49</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0.625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0.221</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0.326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24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0.69</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0.909</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0.147</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0.253</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11</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1" name="Text 18"/>
          <p:cNvSpPr/>
          <p:nvPr/>
        </p:nvSpPr>
        <p:spPr>
          <a:xfrm>
            <a:off x="5562600" y="4942979"/>
            <a:ext cx="599109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0.25 gives the best F1 inside the 60-flag capacity. 0.19 scores higher recall but flags 83.</a:t>
            </a:r>
            <a:endParaRPr lang="en-US" sz="1200" dirty="0">
              <a:latin typeface="IBM Plex Sans" charset="0"/>
              <a:ea typeface="IBM Plex Sans" charset="0"/>
              <a:cs typeface="IBM Plex Sans" charset="0"/>
            </a:endParaRPr>
          </a:p>
        </p:txBody>
      </p:sp>
      <p:sp>
        <p:nvSpPr>
          <p:cNvPr id="22"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10</a:t>
            </a:r>
            <a:endParaRPr lang="en-US" sz="1200" dirty="0">
              <a:latin typeface="IBM Plex Sans" charset="0"/>
              <a:ea typeface="IBM Plex Sans" charset="0"/>
              <a:cs typeface="IBM Plex Sans"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8 · EVALUATION METRICS</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No tuned model beat plain logistic regression</a:t>
            </a:r>
            <a:endParaRPr lang="en-US" sz="3000" dirty="0">
              <a:latin typeface="Source Serif 4" charset="0"/>
              <a:ea typeface="Source Serif 4" charset="0"/>
              <a:cs typeface="Source Serif 4" charset="0"/>
            </a:endParaRPr>
          </a:p>
        </p:txBody>
      </p:sp>
      <p:sp>
        <p:nvSpPr>
          <p:cNvPr id="4" name="Text 2"/>
          <p:cNvSpPr/>
          <p:nvPr/>
        </p:nvSpPr>
        <p:spPr>
          <a:xfrm>
            <a:off x="812800" y="172462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275"/>
                </a:solidFill>
                <a:latin typeface="IBM Plex Sans" pitchFamily="34" charset="0"/>
                <a:ea typeface="IBM Plex Sans" pitchFamily="34" charset="-122"/>
                <a:cs typeface="IBM Plex Sans" pitchFamily="34" charset="-120"/>
              </a:rPr>
              <a:t>Each model is cut off to flag about 60 transactions. To win it must have recall above 0.485 and precision of at least 0.569.</a:t>
            </a:r>
            <a:endParaRPr lang="en-US" sz="1300" dirty="0">
              <a:latin typeface="IBM Plex Sans" charset="0"/>
              <a:ea typeface="IBM Plex Sans" charset="0"/>
              <a:cs typeface="IBM Plex Sans" charset="0"/>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71601"/>
          <a:ext cx="10553700" cy="1929805"/>
        </p:xfrm>
        <a:graphic>
          <a:graphicData uri="http://schemas.openxmlformats.org/drawingml/2006/table">
            <a:tbl>
              <a:tblPr/>
              <a:tblGrid>
                <a:gridCol w="3377184">
                  <a:extLst>
                    <a:ext uri="{9D8B030D-6E8A-4147-A177-3AD203B41FA5}">
                      <a16:colId xmlns:a16="http://schemas.microsoft.com/office/drawing/2014/main" val="20000"/>
                    </a:ext>
                  </a:extLst>
                </a:gridCol>
                <a:gridCol w="1371981">
                  <a:extLst>
                    <a:ext uri="{9D8B030D-6E8A-4147-A177-3AD203B41FA5}">
                      <a16:colId xmlns:a16="http://schemas.microsoft.com/office/drawing/2014/main" val="20001"/>
                    </a:ext>
                  </a:extLst>
                </a:gridCol>
                <a:gridCol w="1371981">
                  <a:extLst>
                    <a:ext uri="{9D8B030D-6E8A-4147-A177-3AD203B41FA5}">
                      <a16:colId xmlns:a16="http://schemas.microsoft.com/office/drawing/2014/main" val="20002"/>
                    </a:ext>
                  </a:extLst>
                </a:gridCol>
                <a:gridCol w="1371981">
                  <a:extLst>
                    <a:ext uri="{9D8B030D-6E8A-4147-A177-3AD203B41FA5}">
                      <a16:colId xmlns:a16="http://schemas.microsoft.com/office/drawing/2014/main" val="20003"/>
                    </a:ext>
                  </a:extLst>
                </a:gridCol>
                <a:gridCol w="1477518">
                  <a:extLst>
                    <a:ext uri="{9D8B030D-6E8A-4147-A177-3AD203B41FA5}">
                      <a16:colId xmlns:a16="http://schemas.microsoft.com/office/drawing/2014/main" val="20004"/>
                    </a:ext>
                  </a:extLst>
                </a:gridCol>
                <a:gridCol w="1583055">
                  <a:extLst>
                    <a:ext uri="{9D8B030D-6E8A-4147-A177-3AD203B41FA5}">
                      <a16:colId xmlns:a16="http://schemas.microsoft.com/office/drawing/2014/main" val="20005"/>
                    </a:ext>
                  </a:extLst>
                </a:gridCol>
              </a:tblGrid>
              <a:tr h="385961">
                <a:tc>
                  <a:txBody>
                    <a:bodyPr/>
                    <a:lstStyle/>
                    <a:p>
                      <a:pPr marL="0" indent="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Model</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Cut-off</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Flagged</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Recall</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Precision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Result</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6213A"/>
                          </a:solidFill>
                          <a:latin typeface="IBM Plex Sans" pitchFamily="34" charset="0"/>
                          <a:ea typeface="IBM Plex Sans" pitchFamily="34" charset="-122"/>
                          <a:cs typeface="IBM Plex Sans" pitchFamily="34" charset="-120"/>
                        </a:rPr>
                        <a:t>Logistic regression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0.250</a:t>
                      </a:r>
                      <a:endParaRPr lang="en-US" sz="1400" dirty="0">
                        <a:latin typeface="IBM Plex Sans" charset="0"/>
                        <a:ea typeface="IBM Plex Sans" charset="0"/>
                        <a:cs typeface="IBM Plex Sans" charset="0"/>
                      </a:endParaRPr>
                    </a:p>
                  </a:txBody>
                  <a:tcPr marL="62230" marR="62230" marT="62230" marB="62230">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58</a:t>
                      </a:r>
                      <a:endParaRPr lang="en-US" sz="1400" dirty="0">
                        <a:latin typeface="IBM Plex Sans" charset="0"/>
                        <a:ea typeface="IBM Plex Sans" charset="0"/>
                        <a:cs typeface="IBM Plex Sans" charset="0"/>
                      </a:endParaRPr>
                    </a:p>
                  </a:txBody>
                  <a:tcPr marL="62230" marR="62230" marT="62230" marB="62230">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0.485</a:t>
                      </a:r>
                      <a:endParaRPr lang="en-US" sz="1400" dirty="0">
                        <a:latin typeface="IBM Plex Sans" charset="0"/>
                        <a:ea typeface="IBM Plex Sans" charset="0"/>
                        <a:cs typeface="IBM Plex Sans" charset="0"/>
                      </a:endParaRPr>
                    </a:p>
                  </a:txBody>
                  <a:tcPr marL="62230" marR="62230" marT="62230" marB="62230">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0.569</a:t>
                      </a:r>
                      <a:endParaRPr lang="en-US" sz="1400" dirty="0">
                        <a:latin typeface="IBM Plex Sans" charset="0"/>
                        <a:ea typeface="IBM Plex Sans" charset="0"/>
                        <a:cs typeface="IBM Plex Sans" charset="0"/>
                      </a:endParaRPr>
                    </a:p>
                  </a:txBody>
                  <a:tcPr marL="62230" marR="62230" marT="62230" marB="62230">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nSpc>
                          <a:spcPts val="1960"/>
                        </a:lnSpc>
                        <a:buNone/>
                      </a:pPr>
                      <a:r>
                        <a:rPr lang="en-US" sz="1400" dirty="0">
                          <a:solidFill>
                            <a:srgbClr val="16213A"/>
                          </a:solidFill>
                          <a:latin typeface="IBM Plex Sans" pitchFamily="34" charset="0"/>
                          <a:ea typeface="IBM Plex Sans" pitchFamily="34" charset="-122"/>
                          <a:cs typeface="IBM Plex Sans" pitchFamily="34" charset="-120"/>
                        </a:rPr>
                        <a:t>Bar</a:t>
                      </a:r>
                      <a:endParaRPr lang="en-US" sz="1400" dirty="0">
                        <a:latin typeface="IBM Plex Sans" charset="0"/>
                        <a:ea typeface="IBM Plex Sans" charset="0"/>
                        <a:cs typeface="IBM Plex Sans" charset="0"/>
                      </a:endParaRPr>
                    </a:p>
                  </a:txBody>
                  <a:tcPr marL="62230" marR="62230" marT="62230" marB="62230">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6213A"/>
                          </a:solidFill>
                          <a:latin typeface="IBM Plex Sans" pitchFamily="34" charset="0"/>
                          <a:ea typeface="IBM Plex Sans" pitchFamily="34" charset="-122"/>
                          <a:cs typeface="IBM Plex Sans" pitchFamily="34" charset="-120"/>
                        </a:rPr>
                        <a:t>Logistic, balanced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0.956</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60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0.397</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0.450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16213A"/>
                          </a:solidFill>
                          <a:latin typeface="IBM Plex Sans" pitchFamily="34" charset="0"/>
                          <a:ea typeface="IBM Plex Sans" pitchFamily="34" charset="-122"/>
                          <a:cs typeface="IBM Plex Sans" pitchFamily="34" charset="-120"/>
                        </a:rPr>
                        <a:t>Below bar</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CB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6213A"/>
                          </a:solidFill>
                          <a:latin typeface="IBM Plex Sans" pitchFamily="34" charset="0"/>
                          <a:ea typeface="IBM Plex Sans" pitchFamily="34" charset="-122"/>
                          <a:cs typeface="IBM Plex Sans" pitchFamily="34" charset="-120"/>
                        </a:rPr>
                        <a:t>Random forest, tuned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0.498</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60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0.250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0.283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16213A"/>
                          </a:solidFill>
                          <a:latin typeface="IBM Plex Sans" pitchFamily="34" charset="0"/>
                          <a:ea typeface="IBM Plex Sans" pitchFamily="34" charset="-122"/>
                          <a:cs typeface="IBM Plex Sans" pitchFamily="34" charset="-120"/>
                        </a:rPr>
                        <a:t>Below bar</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6213A"/>
                          </a:solidFill>
                          <a:latin typeface="IBM Plex Sans" pitchFamily="34" charset="0"/>
                          <a:ea typeface="IBM Plex Sans" pitchFamily="34" charset="-122"/>
                          <a:cs typeface="IBM Plex Sans" pitchFamily="34" charset="-120"/>
                        </a:rPr>
                        <a:t>Gradient boosting, tuned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0.756</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60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0.250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0.283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960"/>
                        </a:lnSpc>
                        <a:buNone/>
                      </a:pPr>
                      <a:r>
                        <a:rPr lang="en-US" sz="1400" dirty="0">
                          <a:solidFill>
                            <a:srgbClr val="16213A"/>
                          </a:solidFill>
                          <a:latin typeface="IBM Plex Sans" pitchFamily="34" charset="0"/>
                          <a:ea typeface="IBM Plex Sans" pitchFamily="34" charset="-122"/>
                          <a:cs typeface="IBM Plex Sans" pitchFamily="34" charset="-120"/>
                        </a:rPr>
                        <a:t>Below bar</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812800" y="4304605"/>
            <a:ext cx="10566400" cy="673100"/>
          </a:xfrm>
          <a:prstGeom prst="roundRect">
            <a:avLst>
              <a:gd name="adj" fmla="val 15094"/>
            </a:avLst>
          </a:prstGeom>
          <a:solidFill>
            <a:srgbClr val="16213A"/>
          </a:solidFill>
          <a:ln/>
        </p:spPr>
        <p:txBody>
          <a:bodyPr wrap="square" lIns="275042" tIns="173442" rIns="0" bIns="148042" rtlCol="0" anchor="t">
            <a:normAutofit/>
          </a:bodyPr>
          <a:lstStyle/>
          <a:p>
            <a:pPr marL="0" indent="0" algn="l">
              <a:lnSpc>
                <a:spcPts val="2100"/>
              </a:lnSpc>
              <a:buNone/>
            </a:pPr>
            <a:r>
              <a:rPr lang="en-US" sz="1500" dirty="0">
                <a:solidFill>
                  <a:srgbClr val="F5F2EA"/>
                </a:solidFill>
                <a:latin typeface="IBM Plex Sans" pitchFamily="34" charset="0"/>
                <a:ea typeface="IBM Plex Sans" pitchFamily="34" charset="-122"/>
                <a:cs typeface="IBM Plex Sans" pitchFamily="34" charset="-120"/>
              </a:rPr>
              <a:t>At equal review effort, the simple model finds about twice as many frauds: 33 versus 17.</a:t>
            </a:r>
            <a:endParaRPr lang="en-US" sz="1500" dirty="0">
              <a:latin typeface="IBM Plex Sans" charset="0"/>
              <a:ea typeface="IBM Plex Sans" charset="0"/>
              <a:cs typeface="IBM Plex Sans" charset="0"/>
            </a:endParaRPr>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11</a:t>
            </a:r>
            <a:endParaRPr lang="en-US" sz="1200" dirty="0">
              <a:latin typeface="IBM Plex Sans" charset="0"/>
              <a:ea typeface="IBM Plex Sans" charset="0"/>
              <a:cs typeface="IBM Plex Sans"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8 · EVALUATION METRICS</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The selected model still misses half the fraud</a:t>
            </a:r>
            <a:endParaRPr lang="en-US" sz="3000" dirty="0">
              <a:latin typeface="Source Serif 4" charset="0"/>
              <a:ea typeface="Source Serif 4" charset="0"/>
              <a:cs typeface="Source Serif 4" charset="0"/>
            </a:endParaRPr>
          </a:p>
        </p:txBody>
      </p:sp>
      <p:sp>
        <p:nvSpPr>
          <p:cNvPr id="4" name="Text 2"/>
          <p:cNvSpPr/>
          <p:nvPr/>
        </p:nvSpPr>
        <p:spPr>
          <a:xfrm>
            <a:off x="812800" y="1750020"/>
            <a:ext cx="510159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6F7E"/>
                </a:solidFill>
                <a:latin typeface="IBM Plex Sans" pitchFamily="34" charset="0"/>
                <a:ea typeface="IBM Plex Sans" pitchFamily="34" charset="-122"/>
                <a:cs typeface="IBM Plex Sans" pitchFamily="34" charset="-120"/>
              </a:rPr>
              <a:t>Validation vs test, F1 at cut-off 0.5</a:t>
            </a:r>
            <a:endParaRPr lang="en-US" sz="1300" dirty="0">
              <a:latin typeface="IBM Plex Sans" charset="0"/>
              <a:ea typeface="IBM Plex Sans" charset="0"/>
              <a:cs typeface="IBM Plex Sans" charset="0"/>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20801"/>
          <a:ext cx="4940300" cy="1437084"/>
        </p:xfrm>
        <a:graphic>
          <a:graphicData uri="http://schemas.openxmlformats.org/drawingml/2006/table">
            <a:tbl>
              <a:tblPr/>
              <a:tblGrid>
                <a:gridCol w="1976120">
                  <a:extLst>
                    <a:ext uri="{9D8B030D-6E8A-4147-A177-3AD203B41FA5}">
                      <a16:colId xmlns:a16="http://schemas.microsoft.com/office/drawing/2014/main" val="20000"/>
                    </a:ext>
                  </a:extLst>
                </a:gridCol>
                <a:gridCol w="1679702">
                  <a:extLst>
                    <a:ext uri="{9D8B030D-6E8A-4147-A177-3AD203B41FA5}">
                      <a16:colId xmlns:a16="http://schemas.microsoft.com/office/drawing/2014/main" val="20001"/>
                    </a:ext>
                  </a:extLst>
                </a:gridCol>
                <a:gridCol w="1284478">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Model</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CV F1</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Test F1</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Logistic</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0.315 ± 0.068</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0.315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Random forest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0.324 ± 0.032</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0.268</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6213A"/>
                          </a:solidFill>
                          <a:latin typeface="IBM Plex Sans" pitchFamily="34" charset="0"/>
                          <a:ea typeface="IBM Plex Sans" pitchFamily="34" charset="-122"/>
                          <a:cs typeface="IBM Plex Sans" pitchFamily="34" charset="-120"/>
                        </a:rPr>
                        <a:t>Boosting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0.259 ± 0.038</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820"/>
                        </a:lnSpc>
                        <a:buNone/>
                      </a:pPr>
                      <a:r>
                        <a:rPr lang="en-US" sz="1300" dirty="0">
                          <a:solidFill>
                            <a:srgbClr val="16213A"/>
                          </a:solidFill>
                          <a:latin typeface="IBM Plex Sans" pitchFamily="34" charset="0"/>
                          <a:ea typeface="IBM Plex Sans" pitchFamily="34" charset="-122"/>
                          <a:cs typeface="IBM Plex Sans" pitchFamily="34" charset="-120"/>
                        </a:rPr>
                        <a:t>0.250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812800" y="3684885"/>
            <a:ext cx="51015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The forest drops 0.056 from validation to test. With 68 test frauds, swings of that size are plausible noise.</a:t>
            </a:r>
            <a:endParaRPr lang="en-US" sz="1200" dirty="0">
              <a:latin typeface="IBM Plex Sans" charset="0"/>
              <a:ea typeface="IBM Plex Sans" charset="0"/>
              <a:cs typeface="IBM Plex Sans" charset="0"/>
            </a:endParaRPr>
          </a:p>
        </p:txBody>
      </p:sp>
      <p:sp>
        <p:nvSpPr>
          <p:cNvPr id="7" name="Text 4"/>
          <p:cNvSpPr/>
          <p:nvPr/>
        </p:nvSpPr>
        <p:spPr>
          <a:xfrm>
            <a:off x="6070600" y="1750020"/>
            <a:ext cx="546785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6F7E"/>
                </a:solidFill>
                <a:latin typeface="IBM Plex Sans" pitchFamily="34" charset="0"/>
                <a:ea typeface="IBM Plex Sans" pitchFamily="34" charset="-122"/>
                <a:cs typeface="IBM Plex Sans" pitchFamily="34" charset="-120"/>
              </a:rPr>
              <a:t>Selected model: confusion matrix at 0.25</a:t>
            </a:r>
            <a:endParaRPr lang="en-US" sz="1300" dirty="0">
              <a:latin typeface="IBM Plex Sans" charset="0"/>
              <a:ea typeface="IBM Plex Sans" charset="0"/>
              <a:cs typeface="IBM Plex Sans" charset="0"/>
            </a:endParaRPr>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083300" y="2120801"/>
          <a:ext cx="5295900" cy="1157883"/>
        </p:xfrm>
        <a:graphic>
          <a:graphicData uri="http://schemas.openxmlformats.org/drawingml/2006/table">
            <a:tbl>
              <a:tblPr/>
              <a:tblGrid>
                <a:gridCol w="1800606">
                  <a:extLst>
                    <a:ext uri="{9D8B030D-6E8A-4147-A177-3AD203B41FA5}">
                      <a16:colId xmlns:a16="http://schemas.microsoft.com/office/drawing/2014/main" val="20000"/>
                    </a:ext>
                  </a:extLst>
                </a:gridCol>
                <a:gridCol w="1747647">
                  <a:extLst>
                    <a:ext uri="{9D8B030D-6E8A-4147-A177-3AD203B41FA5}">
                      <a16:colId xmlns:a16="http://schemas.microsoft.com/office/drawing/2014/main" val="20001"/>
                    </a:ext>
                  </a:extLst>
                </a:gridCol>
                <a:gridCol w="1747647">
                  <a:extLst>
                    <a:ext uri="{9D8B030D-6E8A-4147-A177-3AD203B41FA5}">
                      <a16:colId xmlns:a16="http://schemas.microsoft.com/office/drawing/2014/main" val="20002"/>
                    </a:ext>
                  </a:extLst>
                </a:gridCol>
              </a:tblGrid>
              <a:tr h="385961">
                <a:tc>
                  <a:txBody>
                    <a:bodyPr/>
                    <a:lstStyle/>
                    <a:p>
                      <a:pPr marL="0" indent="0">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Pred. clean</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Pred. fraud</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6213A"/>
                          </a:solidFill>
                          <a:latin typeface="IBM Plex Sans" pitchFamily="34" charset="0"/>
                          <a:ea typeface="IBM Plex Sans" pitchFamily="34" charset="-122"/>
                          <a:cs typeface="IBM Plex Sans" pitchFamily="34" charset="-120"/>
                        </a:rPr>
                        <a:t>Actual clean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3,907</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25</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6213A"/>
                          </a:solidFill>
                          <a:latin typeface="IBM Plex Sans" pitchFamily="34" charset="0"/>
                          <a:ea typeface="IBM Plex Sans" pitchFamily="34" charset="-122"/>
                          <a:cs typeface="IBM Plex Sans" pitchFamily="34" charset="-120"/>
                        </a:rPr>
                        <a:t>Actual fraud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B5A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B5AE"/>
                      </a:solidFill>
                      <a:prstDash val="solid"/>
                      <a:round/>
                      <a:headEnd type="none" w="med" len="med"/>
                      <a:tailEnd type="none" w="med" len="med"/>
                    </a:lnB>
                    <a:solidFill>
                      <a:srgbClr val="F6E3DA"/>
                    </a:solidFill>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35 missed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5AE"/>
                      </a:solidFill>
                      <a:prstDash val="solid"/>
                      <a:round/>
                      <a:headEnd type="none" w="med" len="med"/>
                      <a:tailEnd type="none" w="med" len="med"/>
                    </a:lnL>
                    <a:lnR w="12700" cap="flat" cmpd="sng" algn="ctr">
                      <a:solidFill>
                        <a:srgbClr val="C4B5A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B5AE"/>
                      </a:solidFill>
                      <a:prstDash val="solid"/>
                      <a:round/>
                      <a:headEnd type="none" w="med" len="med"/>
                      <a:tailEnd type="none" w="med" len="med"/>
                    </a:lnB>
                    <a:solidFill>
                      <a:srgbClr val="F6E3DA"/>
                    </a:solidFill>
                  </a:tcPr>
                </a:tc>
                <a:tc>
                  <a:txBody>
                    <a:bodyPr/>
                    <a:lstStyle/>
                    <a:p>
                      <a:pPr marL="0" indent="0" algn="r">
                        <a:lnSpc>
                          <a:spcPts val="1960"/>
                        </a:lnSpc>
                        <a:buNone/>
                      </a:pPr>
                      <a:r>
                        <a:rPr lang="en-US" sz="1400" dirty="0">
                          <a:solidFill>
                            <a:srgbClr val="16213A"/>
                          </a:solidFill>
                          <a:latin typeface="IBM Plex Sans" pitchFamily="34" charset="0"/>
                          <a:ea typeface="IBM Plex Sans" pitchFamily="34" charset="-122"/>
                          <a:cs typeface="IBM Plex Sans" pitchFamily="34" charset="-120"/>
                        </a:rPr>
                        <a:t>33 caught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5AE"/>
                      </a:solidFill>
                      <a:prstDash val="solid"/>
                      <a:round/>
                      <a:headEnd type="none" w="med" len="med"/>
                      <a:tailEnd type="none" w="med" len="med"/>
                    </a:lnL>
                    <a:lnR w="12700" cap="flat" cmpd="sng" algn="ctr">
                      <a:solidFill>
                        <a:srgbClr val="C4B5A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B5AE"/>
                      </a:solidFill>
                      <a:prstDash val="solid"/>
                      <a:round/>
                      <a:headEnd type="none" w="med" len="med"/>
                      <a:tailEnd type="none" w="med" len="med"/>
                    </a:lnB>
                    <a:solidFill>
                      <a:srgbClr val="F6E3DA"/>
                    </a:solidFill>
                  </a:tcPr>
                </a:tc>
                <a:extLst>
                  <a:ext uri="{0D108BD9-81ED-4DB2-BD59-A6C34878D82A}">
                    <a16:rowId xmlns:a16="http://schemas.microsoft.com/office/drawing/2014/main" val="10002"/>
                  </a:ext>
                </a:extLst>
              </a:tr>
            </a:tbl>
          </a:graphicData>
        </a:graphic>
      </p:graphicFrame>
      <p:sp>
        <p:nvSpPr>
          <p:cNvPr id="9" name="Text 5"/>
          <p:cNvSpPr/>
          <p:nvPr/>
        </p:nvSpPr>
        <p:spPr>
          <a:xfrm>
            <a:off x="6169406" y="3405684"/>
            <a:ext cx="5361432" cy="665361"/>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35 of 68 frauds missed (51%); 25 false alarms (0.6% of genuine)</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95% intervals: recall 37–60%, precision 44–69%</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16213A"/>
                </a:solidFill>
                <a:latin typeface="IBM Plex Sans" pitchFamily="34" charset="0"/>
                <a:ea typeface="IBM Plex Sans" pitchFamily="34" charset="-122"/>
                <a:cs typeface="IBM Plex Sans" pitchFamily="34" charset="-120"/>
              </a:rPr>
              <a:t>Errors by merchant, channel or amount were not analysed in the output</a:t>
            </a:r>
            <a:endParaRPr lang="en-US" sz="1200" dirty="0">
              <a:latin typeface="IBM Plex Sans" charset="0"/>
              <a:ea typeface="IBM Plex Sans" charset="0"/>
              <a:cs typeface="IBM Plex Sans" charset="0"/>
            </a:endParaRPr>
          </a:p>
        </p:txBody>
      </p:sp>
      <p:sp>
        <p:nvSpPr>
          <p:cNvPr id="10"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12</a:t>
            </a:r>
            <a:endParaRPr lang="en-US" sz="1200" dirty="0">
              <a:latin typeface="IBM Plex Sans" charset="0"/>
              <a:ea typeface="IBM Plex Sans" charset="0"/>
              <a:cs typeface="IBM Plex Sans"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9 · OPPORTUNITY SIZING</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About $3.2M a year per 1M transactions, on assumed inputs</a:t>
            </a:r>
            <a:endParaRPr lang="en-US" sz="3000" dirty="0">
              <a:latin typeface="Source Serif 4" charset="0"/>
              <a:ea typeface="Source Serif 4" charset="0"/>
              <a:cs typeface="Source Serif 4" charset="0"/>
            </a:endParaRPr>
          </a:p>
        </p:txBody>
      </p:sp>
      <p:sp>
        <p:nvSpPr>
          <p:cNvPr id="4" name="Shape 2"/>
          <p:cNvSpPr/>
          <p:nvPr/>
        </p:nvSpPr>
        <p:spPr>
          <a:xfrm>
            <a:off x="815975" y="2146895"/>
            <a:ext cx="4438650" cy="1898253"/>
          </a:xfrm>
          <a:prstGeom prst="roundRect">
            <a:avLst>
              <a:gd name="adj" fmla="val 5185"/>
            </a:avLst>
          </a:prstGeom>
          <a:solidFill>
            <a:srgbClr val="FCFBF7"/>
          </a:solidFill>
          <a:ln w="6350">
            <a:solidFill>
              <a:srgbClr val="D9D3C4"/>
            </a:solidFill>
            <a:prstDash val="solid"/>
          </a:ln>
        </p:spPr>
      </p:sp>
      <p:sp>
        <p:nvSpPr>
          <p:cNvPr id="5" name="Text 3"/>
          <p:cNvSpPr/>
          <p:nvPr/>
        </p:nvSpPr>
        <p:spPr>
          <a:xfrm>
            <a:off x="1022350" y="2327870"/>
            <a:ext cx="414667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B8441A"/>
                </a:solidFill>
                <a:latin typeface="IBM Plex Sans" pitchFamily="34" charset="0"/>
                <a:ea typeface="IBM Plex Sans" pitchFamily="34" charset="-122"/>
                <a:cs typeface="IBM Plex Sans" pitchFamily="34" charset="-120"/>
              </a:rPr>
              <a:t>Assumptions (placeholders, not from the data)</a:t>
            </a:r>
            <a:endParaRPr lang="en-US" sz="1400" dirty="0">
              <a:latin typeface="IBM Plex Sans" charset="0"/>
              <a:ea typeface="IBM Plex Sans" charset="0"/>
              <a:cs typeface="IBM Plex Sans" charset="0"/>
            </a:endParaRPr>
          </a:p>
        </p:txBody>
      </p:sp>
      <p:sp>
        <p:nvSpPr>
          <p:cNvPr id="6" name="Text 4"/>
          <p:cNvSpPr/>
          <p:nvPr/>
        </p:nvSpPr>
        <p:spPr>
          <a:xfrm>
            <a:off x="1121156" y="2630091"/>
            <a:ext cx="4040251" cy="1259483"/>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Average fraud loss: $500 (replace with the real mean of amount_usd on fraud rows)</a:t>
            </a:r>
            <a:endParaRPr lang="en-US" sz="1200" dirty="0">
              <a:latin typeface="IBM Plex Sans" charset="0"/>
              <a:ea typeface="IBM Plex Sans" charset="0"/>
              <a:cs typeface="IBM Plex Sans" charset="0"/>
            </a:endParaRPr>
          </a:p>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80% of caught fraud is stopped before loss</a:t>
            </a:r>
            <a:endParaRPr lang="en-US" sz="1200" dirty="0">
              <a:latin typeface="IBM Plex Sans" charset="0"/>
              <a:ea typeface="IBM Plex Sans" charset="0"/>
              <a:cs typeface="IBM Plex Sans" charset="0"/>
            </a:endParaRPr>
          </a:p>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Review cost $5 per flag; friction $10 per false alarm</a:t>
            </a:r>
            <a:endParaRPr lang="en-US" sz="1200" dirty="0">
              <a:latin typeface="IBM Plex Sans" charset="0"/>
              <a:ea typeface="IBM Plex Sans" charset="0"/>
              <a:cs typeface="IBM Plex Sans" charset="0"/>
            </a:endParaRPr>
          </a:p>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Test mix holds at scale: 1.7% fraud, 1.45% flagged</a:t>
            </a:r>
            <a:endParaRPr lang="en-US" sz="1200" dirty="0">
              <a:latin typeface="IBM Plex Sans" charset="0"/>
              <a:ea typeface="IBM Plex Sans" charset="0"/>
              <a:cs typeface="IBM Plex Sans" charset="0"/>
            </a:endParaRPr>
          </a:p>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Build $150k, run $100k per year</a:t>
            </a:r>
            <a:endParaRPr lang="en-US" sz="1200" dirty="0">
              <a:latin typeface="IBM Plex Sans" charset="0"/>
              <a:ea typeface="IBM Plex Sans" charset="0"/>
              <a:cs typeface="IBM Plex Sans" charset="0"/>
            </a:endParaR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524500" y="2156420"/>
          <a:ext cx="5854700" cy="1662906"/>
        </p:xfrm>
        <a:graphic>
          <a:graphicData uri="http://schemas.openxmlformats.org/drawingml/2006/table">
            <a:tbl>
              <a:tblPr/>
              <a:tblGrid>
                <a:gridCol w="2224786">
                  <a:extLst>
                    <a:ext uri="{9D8B030D-6E8A-4147-A177-3AD203B41FA5}">
                      <a16:colId xmlns:a16="http://schemas.microsoft.com/office/drawing/2014/main" val="20000"/>
                    </a:ext>
                  </a:extLst>
                </a:gridCol>
                <a:gridCol w="1990598">
                  <a:extLst>
                    <a:ext uri="{9D8B030D-6E8A-4147-A177-3AD203B41FA5}">
                      <a16:colId xmlns:a16="http://schemas.microsoft.com/office/drawing/2014/main" val="20001"/>
                    </a:ext>
                  </a:extLst>
                </a:gridCol>
                <a:gridCol w="1639316">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Per 4,000 transactions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Calculation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gn="r">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Value</a:t>
                      </a:r>
                      <a:endParaRPr lang="en-US" sz="1200" dirty="0">
                        <a:latin typeface="IBM Plex Sans" charset="0"/>
                        <a:ea typeface="IBM Plex Sans" charset="0"/>
                        <a:cs typeface="IBM Plex Sans" charset="0"/>
                      </a:endParaRPr>
                    </a:p>
                  </a:txBody>
                  <a:tcPr marL="53340" marR="53340" marT="53340" marB="5334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Fraud loss avoided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33 × $500 × 80%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+$13,200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Review cost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58 × $5</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−$290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Customer friction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25 × $10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−$250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Net benefit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$3.17 per transaction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tc>
                  <a:txBody>
                    <a:bodyPr/>
                    <a:lstStyle/>
                    <a:p>
                      <a:pPr marL="0" indent="0" algn="r">
                        <a:lnSpc>
                          <a:spcPts val="1680"/>
                        </a:lnSpc>
                        <a:buNone/>
                      </a:pPr>
                      <a:r>
                        <a:rPr lang="en-US" sz="1200" dirty="0">
                          <a:solidFill>
                            <a:srgbClr val="16213A"/>
                          </a:solidFill>
                          <a:latin typeface="IBM Plex Sans" pitchFamily="34" charset="0"/>
                          <a:ea typeface="IBM Plex Sans" pitchFamily="34" charset="-122"/>
                          <a:cs typeface="IBM Plex Sans" pitchFamily="34" charset="-120"/>
                        </a:rPr>
                        <a:t>$12,660</a:t>
                      </a:r>
                      <a:endParaRPr lang="en-US" sz="1200" dirty="0">
                        <a:latin typeface="IBM Plex Sans" charset="0"/>
                        <a:ea typeface="IBM Plex Sans" charset="0"/>
                        <a:cs typeface="IBM Plex Sans" charset="0"/>
                      </a:endParaRPr>
                    </a:p>
                  </a:txBody>
                  <a:tcPr marL="53340" marR="53340" marT="53340" marB="53340">
                    <a:lnL w="12700" cap="flat" cmpd="sng" algn="ctr">
                      <a:solidFill>
                        <a:srgbClr val="B0BCBE"/>
                      </a:solidFill>
                      <a:prstDash val="solid"/>
                      <a:round/>
                      <a:headEnd type="none" w="med" len="med"/>
                      <a:tailEnd type="none" w="med" len="med"/>
                    </a:lnL>
                    <a:lnR w="12700" cap="flat" cmpd="sng" algn="ctr">
                      <a:solidFill>
                        <a:srgbClr val="B0BCB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0BCBE"/>
                      </a:solidFill>
                      <a:prstDash val="solid"/>
                      <a:round/>
                      <a:headEnd type="none" w="med" len="med"/>
                      <a:tailEnd type="none" w="med" len="med"/>
                    </a:lnB>
                    <a:solidFill>
                      <a:srgbClr val="DCEBEE"/>
                    </a:solidFill>
                  </a:tcPr>
                </a:tc>
                <a:extLst>
                  <a:ext uri="{0D108BD9-81ED-4DB2-BD59-A6C34878D82A}">
                    <a16:rowId xmlns:a16="http://schemas.microsoft.com/office/drawing/2014/main" val="10004"/>
                  </a:ext>
                </a:extLst>
              </a:tr>
            </a:tbl>
          </a:graphicData>
        </a:graphic>
      </p:graphicFrame>
      <p:sp>
        <p:nvSpPr>
          <p:cNvPr id="8" name="Text 5"/>
          <p:cNvSpPr/>
          <p:nvPr/>
        </p:nvSpPr>
        <p:spPr>
          <a:xfrm>
            <a:off x="5610606" y="3946327"/>
            <a:ext cx="5936996" cy="848122"/>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Sensitivity per 1M transactions: loss $300 gives $1.8M; $800 gives $5.1M; recall at its 37% lower bound gives $2.4M</a:t>
            </a:r>
            <a:endParaRPr lang="en-US" sz="1200" dirty="0">
              <a:latin typeface="IBM Plex Sans" charset="0"/>
              <a:ea typeface="IBM Plex Sans" charset="0"/>
              <a:cs typeface="IBM Plex Sans" charset="0"/>
            </a:endParaRPr>
          </a:p>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Year one: $3.2M less $0.25M cost leaves about $2.9M; break-even after roughly 80,000 transactions</a:t>
            </a:r>
            <a:endParaRPr lang="en-US" sz="1200" dirty="0">
              <a:latin typeface="IBM Plex Sans" charset="0"/>
              <a:ea typeface="IBM Plex Sans" charset="0"/>
              <a:cs typeface="IBM Plex Sans" charset="0"/>
            </a:endParaRPr>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13</a:t>
            </a:r>
            <a:endParaRPr lang="en-US" sz="1200" dirty="0">
              <a:latin typeface="IBM Plex Sans" charset="0"/>
              <a:ea typeface="IBM Plex Sans" charset="0"/>
              <a:cs typeface="IBM Plex Sans"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10 · RECOMMENDATION</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Do not deploy yet; run a shadow pilot first</a:t>
            </a:r>
            <a:endParaRPr lang="en-US" sz="3000" dirty="0">
              <a:latin typeface="Source Serif 4" charset="0"/>
              <a:ea typeface="Source Serif 4" charset="0"/>
              <a:cs typeface="Source Serif 4" charset="0"/>
            </a:endParaRPr>
          </a:p>
        </p:txBody>
      </p:sp>
      <p:sp>
        <p:nvSpPr>
          <p:cNvPr id="4" name="Shape 2"/>
          <p:cNvSpPr/>
          <p:nvPr/>
        </p:nvSpPr>
        <p:spPr>
          <a:xfrm>
            <a:off x="815975" y="1727795"/>
            <a:ext cx="5187950" cy="2154833"/>
          </a:xfrm>
          <a:prstGeom prst="roundRect">
            <a:avLst>
              <a:gd name="adj" fmla="val 4568"/>
            </a:avLst>
          </a:prstGeom>
          <a:solidFill>
            <a:srgbClr val="FCFBF7"/>
          </a:solidFill>
          <a:ln w="6350">
            <a:solidFill>
              <a:srgbClr val="D9D3C4"/>
            </a:solidFill>
            <a:prstDash val="solid"/>
          </a:ln>
        </p:spPr>
      </p:sp>
      <p:pic>
        <p:nvPicPr>
          <p:cNvPr id="5" name="Image 0" descr="CheckCircle"/>
          <p:cNvPicPr>
            <a:picLocks noChangeAspect="1"/>
          </p:cNvPicPr>
          <p:nvPr/>
        </p:nvPicPr>
        <p:blipFill>
          <a:blip r:embed="rId3"/>
          <a:srcRect/>
          <a:stretch/>
        </p:blipFill>
        <p:spPr>
          <a:xfrm>
            <a:off x="1022350" y="1934170"/>
            <a:ext cx="254000" cy="254000"/>
          </a:xfrm>
          <a:prstGeom prst="rect">
            <a:avLst/>
          </a:prstGeom>
        </p:spPr>
      </p:pic>
      <p:sp>
        <p:nvSpPr>
          <p:cNvPr id="6" name="Text 3"/>
          <p:cNvSpPr/>
          <p:nvPr/>
        </p:nvSpPr>
        <p:spPr>
          <a:xfrm>
            <a:off x="1365250" y="1939230"/>
            <a:ext cx="187928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6F7E"/>
                </a:solidFill>
                <a:latin typeface="IBM Plex Sans" pitchFamily="34" charset="0"/>
                <a:ea typeface="IBM Plex Sans" pitchFamily="34" charset="-122"/>
                <a:cs typeface="IBM Plex Sans" pitchFamily="34" charset="-120"/>
              </a:rPr>
              <a:t>What supports it</a:t>
            </a:r>
            <a:endParaRPr lang="en-US" sz="1600" dirty="0">
              <a:latin typeface="IBM Plex Sans" charset="0"/>
              <a:ea typeface="IBM Plex Sans" charset="0"/>
              <a:cs typeface="IBM Plex Sans" charset="0"/>
            </a:endParaRPr>
          </a:p>
        </p:txBody>
      </p:sp>
      <p:sp>
        <p:nvSpPr>
          <p:cNvPr id="7" name="Text 4"/>
          <p:cNvSpPr/>
          <p:nvPr/>
        </p:nvSpPr>
        <p:spPr>
          <a:xfrm>
            <a:off x="1107694" y="2289770"/>
            <a:ext cx="4825492" cy="949722"/>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16213A"/>
                </a:solidFill>
                <a:latin typeface="IBM Plex Sans" pitchFamily="34" charset="0"/>
                <a:ea typeface="IBM Plex Sans" pitchFamily="34" charset="-122"/>
                <a:cs typeface="IBM Plex Sans" pitchFamily="34" charset="-120"/>
              </a:rPr>
              <a:t>Beats every alternative within review capacity: F1 0.524 vs 0.268 next best</a:t>
            </a:r>
            <a:endParaRPr lang="en-US" sz="1300" dirty="0">
              <a:latin typeface="IBM Plex Sans" charset="0"/>
              <a:ea typeface="IBM Plex Sans" charset="0"/>
              <a:cs typeface="IBM Plex Sans" charset="0"/>
            </a:endParaRPr>
          </a:p>
          <a:p>
            <a:pPr marL="168656" indent="-168656" algn="l">
              <a:lnSpc>
                <a:spcPts val="1820"/>
              </a:lnSpc>
              <a:buSzPct val="100000"/>
              <a:buChar char="•"/>
            </a:pPr>
            <a:r>
              <a:rPr lang="en-US" sz="1300" dirty="0">
                <a:solidFill>
                  <a:srgbClr val="16213A"/>
                </a:solidFill>
                <a:latin typeface="IBM Plex Sans" pitchFamily="34" charset="0"/>
                <a:ea typeface="IBM Plex Sans" pitchFamily="34" charset="-122"/>
                <a:cs typeface="IBM Plex Sans" pitchFamily="34" charset="-120"/>
              </a:rPr>
              <a:t>Explainable through its coefficients</a:t>
            </a:r>
            <a:endParaRPr lang="en-US" sz="1300" dirty="0">
              <a:latin typeface="IBM Plex Sans" charset="0"/>
              <a:ea typeface="IBM Plex Sans" charset="0"/>
              <a:cs typeface="IBM Plex Sans" charset="0"/>
            </a:endParaRPr>
          </a:p>
          <a:p>
            <a:pPr marL="168656" indent="-168656" algn="l">
              <a:lnSpc>
                <a:spcPts val="1820"/>
              </a:lnSpc>
              <a:buSzPct val="100000"/>
              <a:buChar char="•"/>
            </a:pPr>
            <a:r>
              <a:rPr lang="en-US" sz="1300" dirty="0">
                <a:solidFill>
                  <a:srgbClr val="16213A"/>
                </a:solidFill>
                <a:latin typeface="IBM Plex Sans" pitchFamily="34" charset="0"/>
                <a:ea typeface="IBM Plex Sans" pitchFamily="34" charset="-122"/>
                <a:cs typeface="IBM Plex Sans" pitchFamily="34" charset="-120"/>
              </a:rPr>
              <a:t>Net value stays positive under every tested assumption</a:t>
            </a:r>
            <a:endParaRPr lang="en-US" sz="1300" dirty="0">
              <a:latin typeface="IBM Plex Sans" charset="0"/>
              <a:ea typeface="IBM Plex Sans" charset="0"/>
              <a:cs typeface="IBM Plex Sans" charset="0"/>
            </a:endParaRPr>
          </a:p>
        </p:txBody>
      </p:sp>
      <p:sp>
        <p:nvSpPr>
          <p:cNvPr id="8" name="Shape 5"/>
          <p:cNvSpPr/>
          <p:nvPr/>
        </p:nvSpPr>
        <p:spPr>
          <a:xfrm>
            <a:off x="6188075" y="1727795"/>
            <a:ext cx="5187950" cy="2154833"/>
          </a:xfrm>
          <a:prstGeom prst="roundRect">
            <a:avLst>
              <a:gd name="adj" fmla="val 4568"/>
            </a:avLst>
          </a:prstGeom>
          <a:solidFill>
            <a:srgbClr val="FCFBF7"/>
          </a:solidFill>
          <a:ln w="6350">
            <a:solidFill>
              <a:srgbClr val="D9D3C4"/>
            </a:solidFill>
            <a:prstDash val="solid"/>
          </a:ln>
        </p:spPr>
      </p:sp>
      <p:pic>
        <p:nvPicPr>
          <p:cNvPr id="9" name="Image 1" descr="Warning"/>
          <p:cNvPicPr>
            <a:picLocks noChangeAspect="1"/>
          </p:cNvPicPr>
          <p:nvPr/>
        </p:nvPicPr>
        <p:blipFill>
          <a:blip r:embed="rId4"/>
          <a:srcRect/>
          <a:stretch/>
        </p:blipFill>
        <p:spPr>
          <a:xfrm>
            <a:off x="6394450" y="1934170"/>
            <a:ext cx="254000" cy="254000"/>
          </a:xfrm>
          <a:prstGeom prst="rect">
            <a:avLst/>
          </a:prstGeom>
        </p:spPr>
      </p:pic>
      <p:sp>
        <p:nvSpPr>
          <p:cNvPr id="10" name="Text 6"/>
          <p:cNvSpPr/>
          <p:nvPr/>
        </p:nvSpPr>
        <p:spPr>
          <a:xfrm>
            <a:off x="6737350" y="1939230"/>
            <a:ext cx="161127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8441A"/>
                </a:solidFill>
                <a:latin typeface="IBM Plex Sans" pitchFamily="34" charset="0"/>
                <a:ea typeface="IBM Plex Sans" pitchFamily="34" charset="-122"/>
                <a:cs typeface="IBM Plex Sans" pitchFamily="34" charset="-120"/>
              </a:rPr>
              <a:t>What blocks it</a:t>
            </a:r>
            <a:endParaRPr lang="en-US" sz="1600" dirty="0">
              <a:latin typeface="IBM Plex Sans" charset="0"/>
              <a:ea typeface="IBM Plex Sans" charset="0"/>
              <a:cs typeface="IBM Plex Sans" charset="0"/>
            </a:endParaRPr>
          </a:p>
        </p:txBody>
      </p:sp>
      <p:sp>
        <p:nvSpPr>
          <p:cNvPr id="11" name="Text 7"/>
          <p:cNvSpPr/>
          <p:nvPr/>
        </p:nvSpPr>
        <p:spPr>
          <a:xfrm>
            <a:off x="6479794" y="2289770"/>
            <a:ext cx="4825492" cy="1411883"/>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16213A"/>
                </a:solidFill>
                <a:latin typeface="IBM Plex Sans" pitchFamily="34" charset="0"/>
                <a:ea typeface="IBM Plex Sans" pitchFamily="34" charset="-122"/>
                <a:cs typeface="IBM Plex Sans" pitchFamily="34" charset="-120"/>
              </a:rPr>
              <a:t>Cut-off 0.25 was picked on the test set, so 0.524 is optimistic</a:t>
            </a:r>
            <a:endParaRPr lang="en-US" sz="1300" dirty="0">
              <a:latin typeface="IBM Plex Sans" charset="0"/>
              <a:ea typeface="IBM Plex Sans" charset="0"/>
              <a:cs typeface="IBM Plex Sans" charset="0"/>
            </a:endParaRPr>
          </a:p>
          <a:p>
            <a:pPr marL="168656" indent="-168656" algn="l">
              <a:lnSpc>
                <a:spcPts val="1820"/>
              </a:lnSpc>
              <a:buSzPct val="100000"/>
              <a:buChar char="•"/>
            </a:pPr>
            <a:r>
              <a:rPr lang="en-US" sz="1300" dirty="0">
                <a:solidFill>
                  <a:srgbClr val="16213A"/>
                </a:solidFill>
                <a:latin typeface="IBM Plex Sans" pitchFamily="34" charset="0"/>
                <a:ea typeface="IBM Plex Sans" pitchFamily="34" charset="-122"/>
                <a:cs typeface="IBM Plex Sans" pitchFamily="34" charset="-120"/>
              </a:rPr>
              <a:t>Only 68 test frauds: recall could be 37–60%</a:t>
            </a:r>
            <a:endParaRPr lang="en-US" sz="1300" dirty="0">
              <a:latin typeface="IBM Plex Sans" charset="0"/>
              <a:ea typeface="IBM Plex Sans" charset="0"/>
              <a:cs typeface="IBM Plex Sans" charset="0"/>
            </a:endParaRPr>
          </a:p>
          <a:p>
            <a:pPr marL="168656" indent="-168656" algn="l">
              <a:lnSpc>
                <a:spcPts val="1820"/>
              </a:lnSpc>
              <a:buSzPct val="100000"/>
              <a:buChar char="•"/>
            </a:pPr>
            <a:r>
              <a:rPr lang="en-US" sz="1300" dirty="0">
                <a:solidFill>
                  <a:srgbClr val="16213A"/>
                </a:solidFill>
                <a:latin typeface="IBM Plex Sans" pitchFamily="34" charset="0"/>
                <a:ea typeface="IBM Plex Sans" pitchFamily="34" charset="-122"/>
                <a:cs typeface="IBM Plex Sans" pitchFamily="34" charset="-120"/>
              </a:rPr>
              <a:t>About half of fraud is still missed</a:t>
            </a:r>
            <a:endParaRPr lang="en-US" sz="1300" dirty="0">
              <a:latin typeface="IBM Plex Sans" charset="0"/>
              <a:ea typeface="IBM Plex Sans" charset="0"/>
              <a:cs typeface="IBM Plex Sans" charset="0"/>
            </a:endParaRPr>
          </a:p>
          <a:p>
            <a:pPr marL="168656" indent="-168656" algn="l">
              <a:lnSpc>
                <a:spcPts val="1820"/>
              </a:lnSpc>
              <a:buSzPct val="100000"/>
              <a:buChar char="•"/>
            </a:pPr>
            <a:r>
              <a:rPr lang="en-US" sz="1300" dirty="0">
                <a:solidFill>
                  <a:srgbClr val="16213A"/>
                </a:solidFill>
                <a:latin typeface="IBM Plex Sans" pitchFamily="34" charset="0"/>
                <a:ea typeface="IBM Plex Sans" pitchFamily="34" charset="-122"/>
                <a:cs typeface="IBM Plex Sans" pitchFamily="34" charset="-120"/>
              </a:rPr>
              <a:t>No segment, fairness or out-of-time checks</a:t>
            </a:r>
            <a:endParaRPr lang="en-US" sz="1300" dirty="0">
              <a:latin typeface="IBM Plex Sans" charset="0"/>
              <a:ea typeface="IBM Plex Sans" charset="0"/>
              <a:cs typeface="IBM Plex Sans" charset="0"/>
            </a:endParaRPr>
          </a:p>
          <a:p>
            <a:pPr marL="168656" indent="-168656" algn="l">
              <a:lnSpc>
                <a:spcPts val="1820"/>
              </a:lnSpc>
              <a:buSzPct val="100000"/>
              <a:buChar char="•"/>
            </a:pPr>
            <a:r>
              <a:rPr lang="en-US" sz="1300" dirty="0">
                <a:solidFill>
                  <a:srgbClr val="16213A"/>
                </a:solidFill>
                <a:latin typeface="IBM Plex Sans" pitchFamily="34" charset="0"/>
                <a:ea typeface="IBM Plex Sans" pitchFamily="34" charset="-122"/>
                <a:cs typeface="IBM Plex Sans" pitchFamily="34" charset="-120"/>
              </a:rPr>
              <a:t>Output inconsistencies unresolved (see appendix)</a:t>
            </a:r>
            <a:endParaRPr lang="en-US" sz="1300" dirty="0">
              <a:latin typeface="IBM Plex Sans" charset="0"/>
              <a:ea typeface="IBM Plex Sans" charset="0"/>
              <a:cs typeface="IBM Plex Sans" charset="0"/>
            </a:endParaRPr>
          </a:p>
        </p:txBody>
      </p:sp>
      <p:sp>
        <p:nvSpPr>
          <p:cNvPr id="12"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14</a:t>
            </a:r>
            <a:endParaRPr lang="en-US" sz="1200" dirty="0">
              <a:latin typeface="IBM Plex Sans" charset="0"/>
              <a:ea typeface="IBM Plex Sans" charset="0"/>
              <a:cs typeface="IBM Plex Sans"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10 · RECOMMENDATION</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Four risks, each with a mitigation and a gate</a:t>
            </a:r>
            <a:endParaRPr lang="en-US" sz="3000" dirty="0">
              <a:latin typeface="Source Serif 4" charset="0"/>
              <a:ea typeface="Source Serif 4" charset="0"/>
              <a:cs typeface="Source Serif 4"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37320"/>
          <a:ext cx="10553700" cy="2302867"/>
        </p:xfrm>
        <a:graphic>
          <a:graphicData uri="http://schemas.openxmlformats.org/drawingml/2006/table">
            <a:tbl>
              <a:tblPr/>
              <a:tblGrid>
                <a:gridCol w="2110740">
                  <a:extLst>
                    <a:ext uri="{9D8B030D-6E8A-4147-A177-3AD203B41FA5}">
                      <a16:colId xmlns:a16="http://schemas.microsoft.com/office/drawing/2014/main" val="20000"/>
                    </a:ext>
                  </a:extLst>
                </a:gridCol>
                <a:gridCol w="4010406">
                  <a:extLst>
                    <a:ext uri="{9D8B030D-6E8A-4147-A177-3AD203B41FA5}">
                      <a16:colId xmlns:a16="http://schemas.microsoft.com/office/drawing/2014/main" val="20001"/>
                    </a:ext>
                  </a:extLst>
                </a:gridCol>
                <a:gridCol w="4432554">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Why it matters</a:t>
                      </a:r>
                      <a:endParaRPr lang="en-US" sz="1200" dirty="0">
                        <a:latin typeface="IBM Plex Sans" charset="0"/>
                        <a:ea typeface="IBM Plex Sans" charset="0"/>
                        <a:cs typeface="IBM Plex Sans" charset="0"/>
                      </a:endParaRPr>
                    </a:p>
                  </a:txBody>
                  <a:tcPr marL="53340" marR="53340" marT="53340" marB="5334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marL="0" indent="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Mitigation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extLst>
                  <a:ext uri="{0D108BD9-81ED-4DB2-BD59-A6C34878D82A}">
                    <a16:rowId xmlns:a16="http://schemas.microsoft.com/office/drawing/2014/main" val="10000"/>
                  </a:ext>
                </a:extLst>
              </a:tr>
              <a:tr h="545902">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Optimistic estimate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Model and cut-off were judged on the same test set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Re-pick the cut-off by cross-validation; test once on fresh sealed data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Drift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Fraud tactics change, including AI-generated scams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Monitor inputs and outcomes; retrain monthly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2"/>
                  </a:ext>
                </a:extLst>
              </a:tr>
              <a:tr h="545902">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Wrong predictions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Half of fraud is missed; 25 genuine customers flagged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Flag for review, never auto-decline; keep current rules as a backstop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3"/>
                  </a:ext>
                </a:extLst>
              </a:tr>
              <a:tr h="545902">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Bias and regulation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Age, device and location inputs; decisions may need explaining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1680"/>
                        </a:lnSpc>
                        <a:buNone/>
                      </a:pPr>
                      <a:r>
                        <a:rPr lang="en-US" sz="1200" dirty="0">
                          <a:solidFill>
                            <a:srgbClr val="16213A"/>
                          </a:solidFill>
                          <a:latin typeface="IBM Plex Sans" pitchFamily="34" charset="0"/>
                          <a:ea typeface="IBM Plex Sans" pitchFamily="34" charset="-122"/>
                          <a:cs typeface="IBM Plex Sans" pitchFamily="34" charset="-120"/>
                        </a:rPr>
                        <a:t>Check error rates by segment; log reason codes from coefficients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243388"/>
            <a:ext cx="10566400" cy="853281"/>
          </a:xfrm>
          <a:prstGeom prst="roundRect">
            <a:avLst>
              <a:gd name="adj" fmla="val 11907"/>
            </a:avLst>
          </a:prstGeom>
          <a:solidFill>
            <a:srgbClr val="16213A"/>
          </a:solidFill>
          <a:ln/>
        </p:spPr>
        <p:txBody>
          <a:bodyPr wrap="square" lIns="275042" tIns="148042" rIns="0" bIns="122642" rtlCol="0" anchor="t">
            <a:normAutofit/>
          </a:bodyPr>
          <a:lstStyle/>
          <a:p>
            <a:pPr marL="0" indent="0" algn="l">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Proposed gate to A/B test:</a:t>
            </a:r>
            <a:r>
              <a:rPr lang="en-US" sz="1400" dirty="0">
                <a:solidFill>
                  <a:srgbClr val="F5F2EA"/>
                </a:solidFill>
                <a:latin typeface="IBM Plex Sans" pitchFamily="34" charset="0"/>
                <a:ea typeface="IBM Plex Sans" pitchFamily="34" charset="-122"/>
                <a:cs typeface="IBM Plex Sans" pitchFamily="34" charset="-120"/>
              </a:rPr>
              <a:t> on fresh data, precision ≥ 0.50 and recall ≥ 0.45 at a flag rate of 1.5% or less, with no segment far below average.</a:t>
            </a:r>
            <a:endParaRPr lang="en-US" sz="1400" dirty="0">
              <a:latin typeface="IBM Plex Sans" charset="0"/>
              <a:ea typeface="IBM Plex Sans" charset="0"/>
              <a:cs typeface="IBM Plex Sans" charset="0"/>
            </a:endParaRPr>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15</a:t>
            </a:r>
            <a:endParaRPr lang="en-US" sz="1200" dirty="0">
              <a:latin typeface="IBM Plex Sans" charset="0"/>
              <a:ea typeface="IBM Plex Sans" charset="0"/>
              <a:cs typeface="IBM Plex Sans"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11 · DEPLOYMENT PLAN</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137920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Score each transaction in real time, learn from outcomes</a:t>
            </a:r>
            <a:endParaRPr lang="en-US" sz="3000" dirty="0">
              <a:latin typeface="Source Serif 4" charset="0"/>
              <a:ea typeface="Source Serif 4" charset="0"/>
              <a:cs typeface="Source Serif 4" charset="0"/>
            </a:endParaRPr>
          </a:p>
        </p:txBody>
      </p:sp>
      <p:sp>
        <p:nvSpPr>
          <p:cNvPr id="4" name="Shape 2"/>
          <p:cNvSpPr/>
          <p:nvPr/>
        </p:nvSpPr>
        <p:spPr>
          <a:xfrm>
            <a:off x="815975" y="1702395"/>
            <a:ext cx="2292350" cy="1578173"/>
          </a:xfrm>
          <a:prstGeom prst="roundRect">
            <a:avLst>
              <a:gd name="adj" fmla="val 6237"/>
            </a:avLst>
          </a:prstGeom>
          <a:solidFill>
            <a:srgbClr val="FCFBF7"/>
          </a:solidFill>
          <a:ln w="6350">
            <a:solidFill>
              <a:srgbClr val="D9D3C4"/>
            </a:solidFill>
            <a:prstDash val="solid"/>
          </a:ln>
        </p:spPr>
      </p:sp>
      <p:sp>
        <p:nvSpPr>
          <p:cNvPr id="5" name="Text 3"/>
          <p:cNvSpPr/>
          <p:nvPr/>
        </p:nvSpPr>
        <p:spPr>
          <a:xfrm>
            <a:off x="971550" y="1857970"/>
            <a:ext cx="204063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F7E"/>
                </a:solidFill>
                <a:latin typeface="IBM Plex Sans" pitchFamily="34" charset="0"/>
                <a:ea typeface="IBM Plex Sans" pitchFamily="34" charset="-122"/>
                <a:cs typeface="IBM Plex Sans" pitchFamily="34" charset="-120"/>
              </a:rPr>
              <a:t>DATA SOURCES</a:t>
            </a:r>
            <a:endParaRPr lang="en-US" sz="1200" dirty="0">
              <a:latin typeface="IBM Plex Sans" charset="0"/>
              <a:ea typeface="IBM Plex Sans" charset="0"/>
              <a:cs typeface="IBM Plex Sans" charset="0"/>
            </a:endParaRPr>
          </a:p>
        </p:txBody>
      </p:sp>
      <p:sp>
        <p:nvSpPr>
          <p:cNvPr id="6" name="Text 4"/>
          <p:cNvSpPr/>
          <p:nvPr/>
        </p:nvSpPr>
        <p:spPr>
          <a:xfrm>
            <a:off x="1070356" y="2134791"/>
            <a:ext cx="1934210" cy="1015603"/>
          </a:xfrm>
          <a:prstGeom prst="rect">
            <a:avLst/>
          </a:prstGeom>
          <a:noFill/>
          <a:ln/>
        </p:spPr>
        <p:txBody>
          <a:bodyPr wrap="square" lIns="0" tIns="0" rIns="0" bIns="0" rtlCol="0" anchor="t">
            <a:normAutofit/>
          </a:bodyPr>
          <a:lstStyle/>
          <a:p>
            <a:pPr marL="155194" indent="-155194" algn="l">
              <a:lnSpc>
                <a:spcPts val="1560"/>
              </a:lnSpc>
              <a:buSzPct val="100000"/>
              <a:buChar char="•"/>
            </a:pPr>
            <a:r>
              <a:rPr lang="en-US" sz="1200" dirty="0">
                <a:solidFill>
                  <a:srgbClr val="16213A"/>
                </a:solidFill>
                <a:latin typeface="IBM Plex Sans" pitchFamily="34" charset="0"/>
                <a:ea typeface="IBM Plex Sans" pitchFamily="34" charset="-122"/>
                <a:cs typeface="IBM Plex Sans" pitchFamily="34" charset="-120"/>
              </a:rPr>
              <a:t>Card authorisation stream</a:t>
            </a:r>
            <a:endParaRPr lang="en-US" sz="1200" dirty="0">
              <a:latin typeface="IBM Plex Sans" charset="0"/>
              <a:ea typeface="IBM Plex Sans" charset="0"/>
              <a:cs typeface="IBM Plex Sans" charset="0"/>
            </a:endParaRPr>
          </a:p>
          <a:p>
            <a:pPr marL="155194" indent="-155194" algn="l">
              <a:lnSpc>
                <a:spcPts val="1560"/>
              </a:lnSpc>
              <a:buSzPct val="100000"/>
              <a:buChar char="•"/>
            </a:pPr>
            <a:r>
              <a:rPr lang="en-US" sz="1200" dirty="0">
                <a:solidFill>
                  <a:srgbClr val="16213A"/>
                </a:solidFill>
                <a:latin typeface="IBM Plex Sans" pitchFamily="34" charset="0"/>
                <a:ea typeface="IBM Plex Sans" pitchFamily="34" charset="-122"/>
                <a:cs typeface="IBM Plex Sans" pitchFamily="34" charset="-120"/>
              </a:rPr>
              <a:t>Account records</a:t>
            </a:r>
            <a:endParaRPr lang="en-US" sz="1200" dirty="0">
              <a:latin typeface="IBM Plex Sans" charset="0"/>
              <a:ea typeface="IBM Plex Sans" charset="0"/>
              <a:cs typeface="IBM Plex Sans" charset="0"/>
            </a:endParaRPr>
          </a:p>
          <a:p>
            <a:pPr marL="155194" indent="-155194" algn="l">
              <a:lnSpc>
                <a:spcPts val="1560"/>
              </a:lnSpc>
              <a:buSzPct val="100000"/>
              <a:buChar char="•"/>
            </a:pPr>
            <a:r>
              <a:rPr lang="en-US" sz="1200" dirty="0">
                <a:solidFill>
                  <a:srgbClr val="16213A"/>
                </a:solidFill>
                <a:latin typeface="IBM Plex Sans" pitchFamily="34" charset="0"/>
                <a:ea typeface="IBM Plex Sans" pitchFamily="34" charset="-122"/>
                <a:cs typeface="IBM Plex Sans" pitchFamily="34" charset="-120"/>
              </a:rPr>
              <a:t>Merchant risk feed</a:t>
            </a:r>
            <a:endParaRPr lang="en-US" sz="1200" dirty="0">
              <a:latin typeface="IBM Plex Sans" charset="0"/>
              <a:ea typeface="IBM Plex Sans" charset="0"/>
              <a:cs typeface="IBM Plex Sans" charset="0"/>
            </a:endParaRPr>
          </a:p>
          <a:p>
            <a:pPr marL="155194" indent="-155194" algn="l">
              <a:lnSpc>
                <a:spcPts val="1560"/>
              </a:lnSpc>
              <a:buSzPct val="100000"/>
              <a:buChar char="•"/>
            </a:pPr>
            <a:r>
              <a:rPr lang="en-US" sz="1200" dirty="0">
                <a:solidFill>
                  <a:srgbClr val="16213A"/>
                </a:solidFill>
                <a:latin typeface="IBM Plex Sans" pitchFamily="34" charset="0"/>
                <a:ea typeface="IBM Plex Sans" pitchFamily="34" charset="-122"/>
                <a:cs typeface="IBM Plex Sans" pitchFamily="34" charset="-120"/>
              </a:rPr>
              <a:t>Device and IP signals</a:t>
            </a:r>
            <a:endParaRPr lang="en-US" sz="1200" dirty="0">
              <a:latin typeface="IBM Plex Sans" charset="0"/>
              <a:ea typeface="IBM Plex Sans" charset="0"/>
              <a:cs typeface="IBM Plex Sans" charset="0"/>
            </a:endParaRPr>
          </a:p>
        </p:txBody>
      </p:sp>
      <p:pic>
        <p:nvPicPr>
          <p:cNvPr id="7" name="Image 0" descr="arrow-right"/>
          <p:cNvPicPr>
            <a:picLocks noChangeAspect="1"/>
          </p:cNvPicPr>
          <p:nvPr/>
        </p:nvPicPr>
        <p:blipFill>
          <a:blip r:embed="rId3"/>
          <a:srcRect/>
          <a:stretch/>
        </p:blipFill>
        <p:spPr>
          <a:xfrm>
            <a:off x="3187700" y="2402582"/>
            <a:ext cx="304800" cy="177800"/>
          </a:xfrm>
          <a:prstGeom prst="rect">
            <a:avLst/>
          </a:prstGeom>
        </p:spPr>
      </p:pic>
      <p:sp>
        <p:nvSpPr>
          <p:cNvPr id="8" name="Shape 5"/>
          <p:cNvSpPr/>
          <p:nvPr/>
        </p:nvSpPr>
        <p:spPr>
          <a:xfrm>
            <a:off x="3571875" y="1702395"/>
            <a:ext cx="2292350" cy="1578173"/>
          </a:xfrm>
          <a:prstGeom prst="roundRect">
            <a:avLst>
              <a:gd name="adj" fmla="val 6237"/>
            </a:avLst>
          </a:prstGeom>
          <a:solidFill>
            <a:srgbClr val="FCFBF7"/>
          </a:solidFill>
          <a:ln w="6350">
            <a:solidFill>
              <a:srgbClr val="D9D3C4"/>
            </a:solidFill>
            <a:prstDash val="solid"/>
          </a:ln>
        </p:spPr>
      </p:sp>
      <p:sp>
        <p:nvSpPr>
          <p:cNvPr id="9" name="Text 6"/>
          <p:cNvSpPr/>
          <p:nvPr/>
        </p:nvSpPr>
        <p:spPr>
          <a:xfrm>
            <a:off x="3727450" y="1857970"/>
            <a:ext cx="204063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F7E"/>
                </a:solidFill>
                <a:latin typeface="IBM Plex Sans" pitchFamily="34" charset="0"/>
                <a:ea typeface="IBM Plex Sans" pitchFamily="34" charset="-122"/>
                <a:cs typeface="IBM Plex Sans" pitchFamily="34" charset="-120"/>
              </a:rPr>
              <a:t>FEATURE PIPELINE</a:t>
            </a:r>
            <a:endParaRPr lang="en-US" sz="1200" dirty="0">
              <a:latin typeface="IBM Plex Sans" charset="0"/>
              <a:ea typeface="IBM Plex Sans" charset="0"/>
              <a:cs typeface="IBM Plex Sans" charset="0"/>
            </a:endParaRPr>
          </a:p>
        </p:txBody>
      </p:sp>
      <p:sp>
        <p:nvSpPr>
          <p:cNvPr id="10" name="Text 7"/>
          <p:cNvSpPr/>
          <p:nvPr/>
        </p:nvSpPr>
        <p:spPr>
          <a:xfrm>
            <a:off x="3826256" y="2134791"/>
            <a:ext cx="1934210" cy="817563"/>
          </a:xfrm>
          <a:prstGeom prst="rect">
            <a:avLst/>
          </a:prstGeom>
          <a:noFill/>
          <a:ln/>
        </p:spPr>
        <p:txBody>
          <a:bodyPr wrap="square" lIns="0" tIns="0" rIns="0" bIns="0" rtlCol="0" anchor="t">
            <a:normAutofit/>
          </a:bodyPr>
          <a:lstStyle/>
          <a:p>
            <a:pPr marL="155194" indent="-155194" algn="l">
              <a:lnSpc>
                <a:spcPts val="1560"/>
              </a:lnSpc>
              <a:buSzPct val="100000"/>
              <a:buChar char="•"/>
            </a:pPr>
            <a:r>
              <a:rPr lang="en-US" sz="1200" dirty="0">
                <a:solidFill>
                  <a:srgbClr val="16213A"/>
                </a:solidFill>
                <a:latin typeface="IBM Plex Sans" pitchFamily="34" charset="0"/>
                <a:ea typeface="IBM Plex Sans" pitchFamily="34" charset="-122"/>
                <a:cs typeface="IBM Plex Sans" pitchFamily="34" charset="-120"/>
              </a:rPr>
              <a:t>Velocity and recency features</a:t>
            </a:r>
            <a:endParaRPr lang="en-US" sz="1200" dirty="0">
              <a:latin typeface="IBM Plex Sans" charset="0"/>
              <a:ea typeface="IBM Plex Sans" charset="0"/>
              <a:cs typeface="IBM Plex Sans" charset="0"/>
            </a:endParaRPr>
          </a:p>
          <a:p>
            <a:pPr marL="155194" indent="-155194" algn="l">
              <a:lnSpc>
                <a:spcPts val="1560"/>
              </a:lnSpc>
              <a:buSzPct val="100000"/>
              <a:buChar char="•"/>
            </a:pPr>
            <a:r>
              <a:rPr lang="en-US" sz="1200" dirty="0">
                <a:solidFill>
                  <a:srgbClr val="16213A"/>
                </a:solidFill>
                <a:latin typeface="IBM Plex Sans" pitchFamily="34" charset="0"/>
                <a:ea typeface="IBM Plex Sans" pitchFamily="34" charset="-122"/>
                <a:cs typeface="IBM Plex Sans" pitchFamily="34" charset="-120"/>
              </a:rPr>
              <a:t>Same saved scaler and encoder as training</a:t>
            </a:r>
            <a:endParaRPr lang="en-US" sz="1200" dirty="0">
              <a:latin typeface="IBM Plex Sans" charset="0"/>
              <a:ea typeface="IBM Plex Sans" charset="0"/>
              <a:cs typeface="IBM Plex Sans" charset="0"/>
            </a:endParaRPr>
          </a:p>
        </p:txBody>
      </p:sp>
      <p:pic>
        <p:nvPicPr>
          <p:cNvPr id="11" name="Image 1" descr="arrow-right"/>
          <p:cNvPicPr>
            <a:picLocks noChangeAspect="1"/>
          </p:cNvPicPr>
          <p:nvPr/>
        </p:nvPicPr>
        <p:blipFill>
          <a:blip r:embed="rId3"/>
          <a:srcRect/>
          <a:stretch/>
        </p:blipFill>
        <p:spPr>
          <a:xfrm>
            <a:off x="5943600" y="2402582"/>
            <a:ext cx="304800" cy="177800"/>
          </a:xfrm>
          <a:prstGeom prst="rect">
            <a:avLst/>
          </a:prstGeom>
        </p:spPr>
      </p:pic>
      <p:sp>
        <p:nvSpPr>
          <p:cNvPr id="12" name="Shape 8"/>
          <p:cNvSpPr/>
          <p:nvPr/>
        </p:nvSpPr>
        <p:spPr>
          <a:xfrm>
            <a:off x="6327775" y="1702395"/>
            <a:ext cx="2292350" cy="1578173"/>
          </a:xfrm>
          <a:prstGeom prst="roundRect">
            <a:avLst>
              <a:gd name="adj" fmla="val 6237"/>
            </a:avLst>
          </a:prstGeom>
          <a:solidFill>
            <a:srgbClr val="FCFBF7"/>
          </a:solidFill>
          <a:ln w="6350">
            <a:solidFill>
              <a:srgbClr val="D9D3C4"/>
            </a:solidFill>
            <a:prstDash val="solid"/>
          </a:ln>
        </p:spPr>
      </p:sp>
      <p:sp>
        <p:nvSpPr>
          <p:cNvPr id="13" name="Text 9"/>
          <p:cNvSpPr/>
          <p:nvPr/>
        </p:nvSpPr>
        <p:spPr>
          <a:xfrm>
            <a:off x="6483350" y="1857970"/>
            <a:ext cx="204063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F7E"/>
                </a:solidFill>
                <a:latin typeface="IBM Plex Sans" pitchFamily="34" charset="0"/>
                <a:ea typeface="IBM Plex Sans" pitchFamily="34" charset="-122"/>
                <a:cs typeface="IBM Plex Sans" pitchFamily="34" charset="-120"/>
              </a:rPr>
              <a:t>MODEL SERVING</a:t>
            </a:r>
            <a:endParaRPr lang="en-US" sz="1200" dirty="0">
              <a:latin typeface="IBM Plex Sans" charset="0"/>
              <a:ea typeface="IBM Plex Sans" charset="0"/>
              <a:cs typeface="IBM Plex Sans" charset="0"/>
            </a:endParaRPr>
          </a:p>
        </p:txBody>
      </p:sp>
      <p:sp>
        <p:nvSpPr>
          <p:cNvPr id="14" name="Text 10"/>
          <p:cNvSpPr/>
          <p:nvPr/>
        </p:nvSpPr>
        <p:spPr>
          <a:xfrm>
            <a:off x="6582156" y="2134791"/>
            <a:ext cx="1934210" cy="1015603"/>
          </a:xfrm>
          <a:prstGeom prst="rect">
            <a:avLst/>
          </a:prstGeom>
          <a:noFill/>
          <a:ln/>
        </p:spPr>
        <p:txBody>
          <a:bodyPr wrap="square" lIns="0" tIns="0" rIns="0" bIns="0" rtlCol="0" anchor="t">
            <a:normAutofit/>
          </a:bodyPr>
          <a:lstStyle/>
          <a:p>
            <a:pPr marL="155194" indent="-155194" algn="l">
              <a:lnSpc>
                <a:spcPts val="1560"/>
              </a:lnSpc>
              <a:buSzPct val="100000"/>
              <a:buChar char="•"/>
            </a:pPr>
            <a:r>
              <a:rPr lang="en-US" sz="1200" dirty="0">
                <a:solidFill>
                  <a:srgbClr val="16213A"/>
                </a:solidFill>
                <a:latin typeface="IBM Plex Sans" pitchFamily="34" charset="0"/>
                <a:ea typeface="IBM Plex Sans" pitchFamily="34" charset="-122"/>
                <a:cs typeface="IBM Plex Sans" pitchFamily="34" charset="-120"/>
              </a:rPr>
              <a:t>Scoring API: logistic regression</a:t>
            </a:r>
            <a:endParaRPr lang="en-US" sz="1200" dirty="0">
              <a:latin typeface="IBM Plex Sans" charset="0"/>
              <a:ea typeface="IBM Plex Sans" charset="0"/>
              <a:cs typeface="IBM Plex Sans" charset="0"/>
            </a:endParaRPr>
          </a:p>
          <a:p>
            <a:pPr marL="155194" indent="-155194" algn="l">
              <a:lnSpc>
                <a:spcPts val="1560"/>
              </a:lnSpc>
              <a:buSzPct val="100000"/>
              <a:buChar char="•"/>
            </a:pPr>
            <a:r>
              <a:rPr lang="en-US" sz="1200" dirty="0">
                <a:solidFill>
                  <a:srgbClr val="16213A"/>
                </a:solidFill>
                <a:latin typeface="IBM Plex Sans" pitchFamily="34" charset="0"/>
                <a:ea typeface="IBM Plex Sans" pitchFamily="34" charset="-122"/>
                <a:cs typeface="IBM Plex Sans" pitchFamily="34" charset="-120"/>
              </a:rPr>
              <a:t>Returns fraud probability</a:t>
            </a:r>
            <a:endParaRPr lang="en-US" sz="1200" dirty="0">
              <a:latin typeface="IBM Plex Sans" charset="0"/>
              <a:ea typeface="IBM Plex Sans" charset="0"/>
              <a:cs typeface="IBM Plex Sans" charset="0"/>
            </a:endParaRPr>
          </a:p>
          <a:p>
            <a:pPr marL="155194" indent="-155194" algn="l">
              <a:lnSpc>
                <a:spcPts val="1560"/>
              </a:lnSpc>
              <a:buSzPct val="100000"/>
              <a:buChar char="•"/>
            </a:pPr>
            <a:r>
              <a:rPr lang="en-US" sz="1200" dirty="0">
                <a:solidFill>
                  <a:srgbClr val="16213A"/>
                </a:solidFill>
                <a:latin typeface="IBM Plex Sans" pitchFamily="34" charset="0"/>
                <a:ea typeface="IBM Plex Sans" pitchFamily="34" charset="-122"/>
                <a:cs typeface="IBM Plex Sans" pitchFamily="34" charset="-120"/>
              </a:rPr>
              <a:t>Cut-off 0.25 held in config</a:t>
            </a:r>
            <a:endParaRPr lang="en-US" sz="1200" dirty="0">
              <a:latin typeface="IBM Plex Sans" charset="0"/>
              <a:ea typeface="IBM Plex Sans" charset="0"/>
              <a:cs typeface="IBM Plex Sans" charset="0"/>
            </a:endParaRPr>
          </a:p>
        </p:txBody>
      </p:sp>
      <p:pic>
        <p:nvPicPr>
          <p:cNvPr id="15" name="Image 2" descr="arrow-right"/>
          <p:cNvPicPr>
            <a:picLocks noChangeAspect="1"/>
          </p:cNvPicPr>
          <p:nvPr/>
        </p:nvPicPr>
        <p:blipFill>
          <a:blip r:embed="rId3"/>
          <a:srcRect/>
          <a:stretch/>
        </p:blipFill>
        <p:spPr>
          <a:xfrm>
            <a:off x="8699500" y="2402582"/>
            <a:ext cx="304800" cy="177800"/>
          </a:xfrm>
          <a:prstGeom prst="rect">
            <a:avLst/>
          </a:prstGeom>
        </p:spPr>
      </p:pic>
      <p:sp>
        <p:nvSpPr>
          <p:cNvPr id="16" name="Shape 11"/>
          <p:cNvSpPr/>
          <p:nvPr/>
        </p:nvSpPr>
        <p:spPr>
          <a:xfrm>
            <a:off x="9083675" y="1702395"/>
            <a:ext cx="2292350" cy="1578173"/>
          </a:xfrm>
          <a:prstGeom prst="roundRect">
            <a:avLst>
              <a:gd name="adj" fmla="val 6237"/>
            </a:avLst>
          </a:prstGeom>
          <a:solidFill>
            <a:srgbClr val="FCFBF7"/>
          </a:solidFill>
          <a:ln w="6350">
            <a:solidFill>
              <a:srgbClr val="D9D3C4"/>
            </a:solidFill>
            <a:prstDash val="solid"/>
          </a:ln>
        </p:spPr>
      </p:sp>
      <p:sp>
        <p:nvSpPr>
          <p:cNvPr id="17" name="Text 12"/>
          <p:cNvSpPr/>
          <p:nvPr/>
        </p:nvSpPr>
        <p:spPr>
          <a:xfrm>
            <a:off x="9239250" y="1857970"/>
            <a:ext cx="204063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F7E"/>
                </a:solidFill>
                <a:latin typeface="IBM Plex Sans" pitchFamily="34" charset="0"/>
                <a:ea typeface="IBM Plex Sans" pitchFamily="34" charset="-122"/>
                <a:cs typeface="IBM Plex Sans" pitchFamily="34" charset="-120"/>
              </a:rPr>
              <a:t>DECISION</a:t>
            </a:r>
            <a:endParaRPr lang="en-US" sz="1200" dirty="0">
              <a:latin typeface="IBM Plex Sans" charset="0"/>
              <a:ea typeface="IBM Plex Sans" charset="0"/>
              <a:cs typeface="IBM Plex Sans" charset="0"/>
            </a:endParaRPr>
          </a:p>
        </p:txBody>
      </p:sp>
      <p:sp>
        <p:nvSpPr>
          <p:cNvPr id="18" name="Text 13"/>
          <p:cNvSpPr/>
          <p:nvPr/>
        </p:nvSpPr>
        <p:spPr>
          <a:xfrm>
            <a:off x="9338056" y="2134791"/>
            <a:ext cx="1934210" cy="817563"/>
          </a:xfrm>
          <a:prstGeom prst="rect">
            <a:avLst/>
          </a:prstGeom>
          <a:noFill/>
          <a:ln/>
        </p:spPr>
        <p:txBody>
          <a:bodyPr wrap="square" lIns="0" tIns="0" rIns="0" bIns="0" rtlCol="0" anchor="t">
            <a:normAutofit/>
          </a:bodyPr>
          <a:lstStyle/>
          <a:p>
            <a:pPr marL="155194" indent="-155194" algn="l">
              <a:lnSpc>
                <a:spcPts val="1560"/>
              </a:lnSpc>
              <a:buSzPct val="100000"/>
              <a:buChar char="•"/>
            </a:pPr>
            <a:r>
              <a:rPr lang="en-US" sz="1200" dirty="0">
                <a:solidFill>
                  <a:srgbClr val="16213A"/>
                </a:solidFill>
                <a:latin typeface="IBM Plex Sans" pitchFamily="34" charset="0"/>
                <a:ea typeface="IBM Plex Sans" pitchFamily="34" charset="-122"/>
                <a:cs typeface="IBM Plex Sans" pitchFamily="34" charset="-120"/>
              </a:rPr>
              <a:t>At or above 0.25: analyst queue</a:t>
            </a:r>
            <a:endParaRPr lang="en-US" sz="1200" dirty="0">
              <a:latin typeface="IBM Plex Sans" charset="0"/>
              <a:ea typeface="IBM Plex Sans" charset="0"/>
              <a:cs typeface="IBM Plex Sans" charset="0"/>
            </a:endParaRPr>
          </a:p>
          <a:p>
            <a:pPr marL="155194" indent="-155194" algn="l">
              <a:lnSpc>
                <a:spcPts val="1560"/>
              </a:lnSpc>
              <a:buSzPct val="100000"/>
              <a:buChar char="•"/>
            </a:pPr>
            <a:r>
              <a:rPr lang="en-US" sz="1200" dirty="0">
                <a:solidFill>
                  <a:srgbClr val="16213A"/>
                </a:solidFill>
                <a:latin typeface="IBM Plex Sans" pitchFamily="34" charset="0"/>
                <a:ea typeface="IBM Plex Sans" pitchFamily="34" charset="-122"/>
                <a:cs typeface="IBM Plex Sans" pitchFamily="34" charset="-120"/>
              </a:rPr>
              <a:t>Below: approve</a:t>
            </a:r>
            <a:endParaRPr lang="en-US" sz="1200" dirty="0">
              <a:latin typeface="IBM Plex Sans" charset="0"/>
              <a:ea typeface="IBM Plex Sans" charset="0"/>
              <a:cs typeface="IBM Plex Sans" charset="0"/>
            </a:endParaRPr>
          </a:p>
          <a:p>
            <a:pPr marL="155194" indent="-155194" algn="l">
              <a:lnSpc>
                <a:spcPts val="1560"/>
              </a:lnSpc>
              <a:buSzPct val="100000"/>
              <a:buChar char="•"/>
            </a:pPr>
            <a:r>
              <a:rPr lang="en-US" sz="1200" dirty="0">
                <a:solidFill>
                  <a:srgbClr val="16213A"/>
                </a:solidFill>
                <a:latin typeface="IBM Plex Sans" pitchFamily="34" charset="0"/>
                <a:ea typeface="IBM Plex Sans" pitchFamily="34" charset="-122"/>
                <a:cs typeface="IBM Plex Sans" pitchFamily="34" charset="-120"/>
              </a:rPr>
              <a:t>Every score logged</a:t>
            </a:r>
            <a:endParaRPr lang="en-US" sz="1200" dirty="0">
              <a:latin typeface="IBM Plex Sans" charset="0"/>
              <a:ea typeface="IBM Plex Sans" charset="0"/>
              <a:cs typeface="IBM Plex Sans" charset="0"/>
            </a:endParaRPr>
          </a:p>
        </p:txBody>
      </p:sp>
      <p:sp>
        <p:nvSpPr>
          <p:cNvPr id="19" name="Shape 14"/>
          <p:cNvSpPr/>
          <p:nvPr/>
        </p:nvSpPr>
        <p:spPr>
          <a:xfrm>
            <a:off x="812800" y="3461544"/>
            <a:ext cx="5219700" cy="1185962"/>
          </a:xfrm>
          <a:prstGeom prst="roundRect">
            <a:avLst>
              <a:gd name="adj" fmla="val 8567"/>
            </a:avLst>
          </a:prstGeom>
          <a:solidFill>
            <a:srgbClr val="16213A"/>
          </a:solidFill>
          <a:ln/>
        </p:spPr>
      </p:sp>
      <p:sp>
        <p:nvSpPr>
          <p:cNvPr id="20" name="Text 15"/>
          <p:cNvSpPr/>
          <p:nvPr/>
        </p:nvSpPr>
        <p:spPr>
          <a:xfrm>
            <a:off x="990600" y="3613944"/>
            <a:ext cx="501002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272"/>
                </a:solidFill>
                <a:latin typeface="IBM Plex Sans" pitchFamily="34" charset="0"/>
                <a:ea typeface="IBM Plex Sans" pitchFamily="34" charset="-122"/>
                <a:cs typeface="IBM Plex Sans" pitchFamily="34" charset="-120"/>
              </a:rPr>
              <a:t>TRAINING LOOP</a:t>
            </a:r>
            <a:endParaRPr lang="en-US" sz="1200" dirty="0">
              <a:latin typeface="IBM Plex Sans" charset="0"/>
              <a:ea typeface="IBM Plex Sans" charset="0"/>
              <a:cs typeface="IBM Plex Sans" charset="0"/>
            </a:endParaRPr>
          </a:p>
        </p:txBody>
      </p:sp>
      <p:sp>
        <p:nvSpPr>
          <p:cNvPr id="21" name="Text 16"/>
          <p:cNvSpPr/>
          <p:nvPr/>
        </p:nvSpPr>
        <p:spPr>
          <a:xfrm>
            <a:off x="990600" y="3878064"/>
            <a:ext cx="5010023"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5F2EA"/>
                </a:solidFill>
                <a:latin typeface="IBM Plex Sans" pitchFamily="34" charset="0"/>
                <a:ea typeface="IBM Plex Sans" pitchFamily="34" charset="-122"/>
                <a:cs typeface="IBM Plex Sans" pitchFamily="34" charset="-120"/>
              </a:rPr>
              <a:t>Chargebacks and analyst outcomes feed a training store, then a monthly retrain, validation, a model registry and a shadow run before promotion.</a:t>
            </a:r>
            <a:endParaRPr lang="en-US" sz="1200" dirty="0">
              <a:latin typeface="IBM Plex Sans" charset="0"/>
              <a:ea typeface="IBM Plex Sans" charset="0"/>
              <a:cs typeface="IBM Plex Sans" charset="0"/>
            </a:endParaRPr>
          </a:p>
        </p:txBody>
      </p:sp>
      <p:sp>
        <p:nvSpPr>
          <p:cNvPr id="22" name="Shape 17"/>
          <p:cNvSpPr/>
          <p:nvPr/>
        </p:nvSpPr>
        <p:spPr>
          <a:xfrm>
            <a:off x="6159500" y="3461544"/>
            <a:ext cx="5219700" cy="1185962"/>
          </a:xfrm>
          <a:prstGeom prst="roundRect">
            <a:avLst>
              <a:gd name="adj" fmla="val 8567"/>
            </a:avLst>
          </a:prstGeom>
          <a:solidFill>
            <a:srgbClr val="16213A"/>
          </a:solidFill>
          <a:ln/>
        </p:spPr>
      </p:sp>
      <p:sp>
        <p:nvSpPr>
          <p:cNvPr id="23" name="Text 18"/>
          <p:cNvSpPr/>
          <p:nvPr/>
        </p:nvSpPr>
        <p:spPr>
          <a:xfrm>
            <a:off x="6337300" y="3613944"/>
            <a:ext cx="501002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272"/>
                </a:solidFill>
                <a:latin typeface="IBM Plex Sans" pitchFamily="34" charset="0"/>
                <a:ea typeface="IBM Plex Sans" pitchFamily="34" charset="-122"/>
                <a:cs typeface="IBM Plex Sans" pitchFamily="34" charset="-120"/>
              </a:rPr>
              <a:t>MONITORING</a:t>
            </a:r>
            <a:endParaRPr lang="en-US" sz="1200" dirty="0">
              <a:latin typeface="IBM Plex Sans" charset="0"/>
              <a:ea typeface="IBM Plex Sans" charset="0"/>
              <a:cs typeface="IBM Plex Sans" charset="0"/>
            </a:endParaRPr>
          </a:p>
        </p:txBody>
      </p:sp>
      <p:sp>
        <p:nvSpPr>
          <p:cNvPr id="24" name="Text 19"/>
          <p:cNvSpPr/>
          <p:nvPr/>
        </p:nvSpPr>
        <p:spPr>
          <a:xfrm>
            <a:off x="6337300" y="3878064"/>
            <a:ext cx="5010023"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5F2EA"/>
                </a:solidFill>
                <a:latin typeface="IBM Plex Sans" pitchFamily="34" charset="0"/>
                <a:ea typeface="IBM Plex Sans" pitchFamily="34" charset="-122"/>
                <a:cs typeface="IBM Plex Sans" pitchFamily="34" charset="-120"/>
              </a:rPr>
              <a:t>Input drift, score distribution, flag rate and recall on labelled cases, with alerts to the owner and a fallback to current rules.</a:t>
            </a:r>
            <a:endParaRPr lang="en-US" sz="1200" dirty="0">
              <a:latin typeface="IBM Plex Sans" charset="0"/>
              <a:ea typeface="IBM Plex Sans" charset="0"/>
              <a:cs typeface="IBM Plex Sans" charset="0"/>
            </a:endParaRPr>
          </a:p>
        </p:txBody>
      </p:sp>
      <p:sp>
        <p:nvSpPr>
          <p:cNvPr id="25"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16</a:t>
            </a:r>
            <a:endParaRPr lang="en-US" sz="1200" dirty="0">
              <a:latin typeface="IBM Plex Sans" charset="0"/>
              <a:ea typeface="IBM Plex Sans" charset="0"/>
              <a:cs typeface="IBM Plex Sans"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41A"/>
                </a:solidFill>
                <a:latin typeface="IBM Plex Sans" pitchFamily="34" charset="0"/>
                <a:ea typeface="IBM Plex Sans" pitchFamily="34" charset="-122"/>
                <a:cs typeface="IBM Plex Sans" pitchFamily="34" charset="-120"/>
              </a:rPr>
              <a:t>11 · DEPLOYMENT PLAN</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Retrain monthly, watch for drift, A/B test before rollout</a:t>
            </a:r>
            <a:endParaRPr lang="en-US" sz="3000" dirty="0">
              <a:latin typeface="Source Serif 4" charset="0"/>
              <a:ea typeface="Source Serif 4" charset="0"/>
              <a:cs typeface="Source Serif 4" charset="0"/>
            </a:endParaRPr>
          </a:p>
        </p:txBody>
      </p:sp>
      <p:sp>
        <p:nvSpPr>
          <p:cNvPr id="4" name="Shape 2"/>
          <p:cNvSpPr/>
          <p:nvPr/>
        </p:nvSpPr>
        <p:spPr>
          <a:xfrm>
            <a:off x="815975" y="1727795"/>
            <a:ext cx="3136702" cy="2941935"/>
          </a:xfrm>
          <a:prstGeom prst="roundRect">
            <a:avLst>
              <a:gd name="adj" fmla="val 3346"/>
            </a:avLst>
          </a:prstGeom>
          <a:solidFill>
            <a:srgbClr val="FCFBF7"/>
          </a:solidFill>
          <a:ln w="6350">
            <a:solidFill>
              <a:srgbClr val="D9D3C4"/>
            </a:solidFill>
            <a:prstDash val="solid"/>
          </a:ln>
        </p:spPr>
      </p:sp>
      <p:sp>
        <p:nvSpPr>
          <p:cNvPr id="5" name="Text 3"/>
          <p:cNvSpPr/>
          <p:nvPr/>
        </p:nvSpPr>
        <p:spPr>
          <a:xfrm>
            <a:off x="996950" y="1908770"/>
            <a:ext cx="285799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D6F7E"/>
                </a:solidFill>
                <a:latin typeface="IBM Plex Sans" pitchFamily="34" charset="0"/>
                <a:ea typeface="IBM Plex Sans" pitchFamily="34" charset="-122"/>
                <a:cs typeface="IBM Plex Sans" pitchFamily="34" charset="-120"/>
              </a:rPr>
              <a:t>Retraining</a:t>
            </a:r>
            <a:endParaRPr lang="en-US" sz="1500" dirty="0">
              <a:latin typeface="IBM Plex Sans" charset="0"/>
              <a:ea typeface="IBM Plex Sans" charset="0"/>
              <a:cs typeface="IBM Plex Sans" charset="0"/>
            </a:endParaRPr>
          </a:p>
        </p:txBody>
      </p:sp>
      <p:sp>
        <p:nvSpPr>
          <p:cNvPr id="6" name="Text 4"/>
          <p:cNvSpPr/>
          <p:nvPr/>
        </p:nvSpPr>
        <p:spPr>
          <a:xfrm>
            <a:off x="1095756" y="2226270"/>
            <a:ext cx="2751568" cy="1259483"/>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Monthly, on a rolling 12-month window</a:t>
            </a:r>
            <a:endParaRPr lang="en-US" sz="1200" dirty="0">
              <a:latin typeface="IBM Plex Sans" charset="0"/>
              <a:ea typeface="IBM Plex Sans" charset="0"/>
              <a:cs typeface="IBM Plex Sans" charset="0"/>
            </a:endParaRPr>
          </a:p>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Earlier if a drift alert fires</a:t>
            </a:r>
            <a:endParaRPr lang="en-US" sz="1200" dirty="0">
              <a:latin typeface="IBM Plex Sans" charset="0"/>
              <a:ea typeface="IBM Plex Sans" charset="0"/>
              <a:cs typeface="IBM Plex Sans" charset="0"/>
            </a:endParaRPr>
          </a:p>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A challenger must beat the live model on the newest out-of-time data</a:t>
            </a:r>
            <a:endParaRPr lang="en-US" sz="1200" dirty="0">
              <a:latin typeface="IBM Plex Sans" charset="0"/>
              <a:ea typeface="IBM Plex Sans" charset="0"/>
              <a:cs typeface="IBM Plex Sans" charset="0"/>
            </a:endParaRPr>
          </a:p>
        </p:txBody>
      </p:sp>
      <p:sp>
        <p:nvSpPr>
          <p:cNvPr id="7" name="Shape 5"/>
          <p:cNvSpPr/>
          <p:nvPr/>
        </p:nvSpPr>
        <p:spPr>
          <a:xfrm>
            <a:off x="4111427" y="1727795"/>
            <a:ext cx="3136702" cy="2941935"/>
          </a:xfrm>
          <a:prstGeom prst="roundRect">
            <a:avLst>
              <a:gd name="adj" fmla="val 3346"/>
            </a:avLst>
          </a:prstGeom>
          <a:solidFill>
            <a:srgbClr val="FCFBF7"/>
          </a:solidFill>
          <a:ln w="6350">
            <a:solidFill>
              <a:srgbClr val="D9D3C4"/>
            </a:solidFill>
            <a:prstDash val="solid"/>
          </a:ln>
        </p:spPr>
      </p:sp>
      <p:sp>
        <p:nvSpPr>
          <p:cNvPr id="8" name="Text 6"/>
          <p:cNvSpPr/>
          <p:nvPr/>
        </p:nvSpPr>
        <p:spPr>
          <a:xfrm>
            <a:off x="4292402" y="1908770"/>
            <a:ext cx="285799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D6F7E"/>
                </a:solidFill>
                <a:latin typeface="IBM Plex Sans" pitchFamily="34" charset="0"/>
                <a:ea typeface="IBM Plex Sans" pitchFamily="34" charset="-122"/>
                <a:cs typeface="IBM Plex Sans" pitchFamily="34" charset="-120"/>
              </a:rPr>
              <a:t>Drift detection</a:t>
            </a:r>
            <a:endParaRPr lang="en-US" sz="1500" dirty="0">
              <a:latin typeface="IBM Plex Sans" charset="0"/>
              <a:ea typeface="IBM Plex Sans" charset="0"/>
              <a:cs typeface="IBM Plex Sans" charset="0"/>
            </a:endParaRPr>
          </a:p>
        </p:txBody>
      </p:sp>
      <p:sp>
        <p:nvSpPr>
          <p:cNvPr id="9" name="Text 7"/>
          <p:cNvSpPr/>
          <p:nvPr/>
        </p:nvSpPr>
        <p:spPr>
          <a:xfrm>
            <a:off x="4391208" y="2226270"/>
            <a:ext cx="2751568" cy="1259483"/>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Inputs: PSI above 0.2 on cvv_retry_count, velocity_score, merchant_risk_score</a:t>
            </a:r>
            <a:endParaRPr lang="en-US" sz="1200" dirty="0">
              <a:latin typeface="IBM Plex Sans" charset="0"/>
              <a:ea typeface="IBM Plex Sans" charset="0"/>
              <a:cs typeface="IBM Plex Sans" charset="0"/>
            </a:endParaRPr>
          </a:p>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Outputs: flag rate outside 1.0–2.0%</a:t>
            </a:r>
            <a:endParaRPr lang="en-US" sz="1200" dirty="0">
              <a:latin typeface="IBM Plex Sans" charset="0"/>
              <a:ea typeface="IBM Plex Sans" charset="0"/>
              <a:cs typeface="IBM Plex Sans" charset="0"/>
            </a:endParaRPr>
          </a:p>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Outcomes: recall under 0.40 for two weeks</a:t>
            </a:r>
            <a:endParaRPr lang="en-US" sz="1200" dirty="0">
              <a:latin typeface="IBM Plex Sans" charset="0"/>
              <a:ea typeface="IBM Plex Sans" charset="0"/>
              <a:cs typeface="IBM Plex Sans" charset="0"/>
            </a:endParaRPr>
          </a:p>
        </p:txBody>
      </p:sp>
      <p:sp>
        <p:nvSpPr>
          <p:cNvPr id="10" name="Shape 8"/>
          <p:cNvSpPr/>
          <p:nvPr/>
        </p:nvSpPr>
        <p:spPr>
          <a:xfrm>
            <a:off x="7406878" y="1727795"/>
            <a:ext cx="3969147" cy="2941935"/>
          </a:xfrm>
          <a:prstGeom prst="roundRect">
            <a:avLst>
              <a:gd name="adj" fmla="val 3346"/>
            </a:avLst>
          </a:prstGeom>
          <a:solidFill>
            <a:srgbClr val="FCFBF7"/>
          </a:solidFill>
          <a:ln w="6350">
            <a:solidFill>
              <a:srgbClr val="D9D3C4"/>
            </a:solidFill>
            <a:prstDash val="solid"/>
          </a:ln>
        </p:spPr>
      </p:sp>
      <p:sp>
        <p:nvSpPr>
          <p:cNvPr id="11" name="Text 9"/>
          <p:cNvSpPr/>
          <p:nvPr/>
        </p:nvSpPr>
        <p:spPr>
          <a:xfrm>
            <a:off x="7587853" y="1908770"/>
            <a:ext cx="37154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8441A"/>
                </a:solidFill>
                <a:latin typeface="IBM Plex Sans" pitchFamily="34" charset="0"/>
                <a:ea typeface="IBM Plex Sans" pitchFamily="34" charset="-122"/>
                <a:cs typeface="IBM Plex Sans" pitchFamily="34" charset="-120"/>
              </a:rPr>
              <a:t>A/B test (proposed)</a:t>
            </a:r>
            <a:endParaRPr lang="en-US" sz="1500" dirty="0">
              <a:latin typeface="IBM Plex Sans" charset="0"/>
              <a:ea typeface="IBM Plex Sans" charset="0"/>
              <a:cs typeface="IBM Plex Sans" charset="0"/>
            </a:endParaRPr>
          </a:p>
        </p:txBody>
      </p:sp>
      <p:sp>
        <p:nvSpPr>
          <p:cNvPr id="12" name="Text 10"/>
          <p:cNvSpPr/>
          <p:nvPr/>
        </p:nvSpPr>
        <p:spPr>
          <a:xfrm>
            <a:off x="7686659" y="2226270"/>
            <a:ext cx="3608987" cy="2287885"/>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Control: today’s process. Treatment: model-ranked queue. Split by card, same review capacity per arm</a:t>
            </a:r>
            <a:endParaRPr lang="en-US" sz="1200" dirty="0">
              <a:latin typeface="IBM Plex Sans" charset="0"/>
              <a:ea typeface="IBM Plex Sans" charset="0"/>
              <a:cs typeface="IBM Plex Sans" charset="0"/>
            </a:endParaRPr>
          </a:p>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Primary metric: fraud dollars caught per 100 reviews</a:t>
            </a:r>
            <a:endParaRPr lang="en-US" sz="1200" dirty="0">
              <a:latin typeface="IBM Plex Sans" charset="0"/>
              <a:ea typeface="IBM Plex Sans" charset="0"/>
              <a:cs typeface="IBM Plex Sans" charset="0"/>
            </a:endParaRPr>
          </a:p>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Guardrails: false-alarm rate, complaints, analyst time per case</a:t>
            </a:r>
            <a:endParaRPr lang="en-US" sz="1200" dirty="0">
              <a:latin typeface="IBM Plex Sans" charset="0"/>
              <a:ea typeface="IBM Plex Sans" charset="0"/>
              <a:cs typeface="IBM Plex Sans" charset="0"/>
            </a:endParaRPr>
          </a:p>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Roll out: treatment at least 20% better, 95% confidence, 4+ weeks</a:t>
            </a:r>
            <a:endParaRPr lang="en-US" sz="1200" dirty="0">
              <a:latin typeface="IBM Plex Sans" charset="0"/>
              <a:ea typeface="IBM Plex Sans" charset="0"/>
              <a:cs typeface="IBM Plex Sans" charset="0"/>
            </a:endParaRPr>
          </a:p>
          <a:p>
            <a:pPr marL="155194" indent="-155194" algn="l">
              <a:lnSpc>
                <a:spcPts val="1620"/>
              </a:lnSpc>
              <a:buSzPct val="100000"/>
              <a:buChar char="•"/>
            </a:pPr>
            <a:r>
              <a:rPr lang="en-US" sz="1200" dirty="0">
                <a:solidFill>
                  <a:srgbClr val="16213A"/>
                </a:solidFill>
                <a:latin typeface="IBM Plex Sans" pitchFamily="34" charset="0"/>
                <a:ea typeface="IBM Plex Sans" pitchFamily="34" charset="-122"/>
                <a:cs typeface="IBM Plex Sans" pitchFamily="34" charset="-120"/>
              </a:rPr>
              <a:t>Roll back: a guardrail worsens by over 10%, or treatment falls below control</a:t>
            </a:r>
            <a:endParaRPr lang="en-US" sz="1200" dirty="0">
              <a:latin typeface="IBM Plex Sans" charset="0"/>
              <a:ea typeface="IBM Plex Sans" charset="0"/>
              <a:cs typeface="IBM Plex Sans" charset="0"/>
            </a:endParaRPr>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17</a:t>
            </a:r>
            <a:endParaRPr lang="en-US" sz="1200" dirty="0">
              <a:latin typeface="IBM Plex Sans" charset="0"/>
              <a:ea typeface="IBM Plex Sans" charset="0"/>
              <a:cs typeface="IBM Plex Sans"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D7FBB-BAEF-259C-9E7B-4FB2C8A1B4E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D6570C4-E962-D5FA-B357-305AFE3D7D52}"/>
              </a:ext>
            </a:extLst>
          </p:cNvPr>
          <p:cNvSpPr>
            <a:spLocks noGrp="1"/>
          </p:cNvSpPr>
          <p:nvPr>
            <p:ph type="title"/>
          </p:nvPr>
        </p:nvSpPr>
        <p:spPr>
          <a:xfrm>
            <a:off x="4756647" y="3201464"/>
            <a:ext cx="2073523"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3A"/>
                </a:solidFill>
                <a:latin typeface="Source Serif 4" pitchFamily="18" charset="0"/>
                <a:ea typeface="Source Serif 4" pitchFamily="18" charset="-122"/>
                <a:cs typeface="Source Serif 4" pitchFamily="18" charset="-120"/>
              </a:rPr>
              <a:t>Thank You</a:t>
            </a:r>
            <a:endParaRPr lang="en-US" sz="3000" dirty="0">
              <a:latin typeface="Source Serif 4" charset="0"/>
              <a:ea typeface="Source Serif 4" charset="0"/>
              <a:cs typeface="Source Serif 4" charset="0"/>
            </a:endParaRPr>
          </a:p>
        </p:txBody>
      </p:sp>
      <p:sp>
        <p:nvSpPr>
          <p:cNvPr id="13" name="Text 11">
            <a:extLst>
              <a:ext uri="{FF2B5EF4-FFF2-40B4-BE49-F238E27FC236}">
                <a16:creationId xmlns:a16="http://schemas.microsoft.com/office/drawing/2014/main" id="{66E7CF00-54B3-23DF-DEF2-5B24985B0CA1}"/>
              </a:ext>
            </a:extLst>
          </p:cNvPr>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75"/>
                </a:solidFill>
                <a:latin typeface="IBM Plex Sans" pitchFamily="34" charset="0"/>
                <a:ea typeface="IBM Plex Sans" pitchFamily="34" charset="-122"/>
                <a:cs typeface="IBM Plex Sans" pitchFamily="34" charset="-120"/>
              </a:rPr>
              <a:t>Credit card fraud model selection · 18</a:t>
            </a:r>
            <a:endParaRPr lang="en-US" sz="1200" dirty="0">
              <a:latin typeface="IBM Plex Sans" charset="0"/>
              <a:ea typeface="IBM Plex Sans" charset="0"/>
              <a:cs typeface="IBM Plex Sans" charset="0"/>
            </a:endParaRPr>
          </a:p>
        </p:txBody>
      </p:sp>
    </p:spTree>
    <p:extLst>
      <p:ext uri="{BB962C8B-B14F-4D97-AF65-F5344CB8AC3E}">
        <p14:creationId xmlns:p14="http://schemas.microsoft.com/office/powerpoint/2010/main" val="1644691325"/>
      </p:ext>
    </p:extLst>
  </p:cSld>
  <p:clrMapOvr>
    <a:masterClrMapping/>
  </p:clrMapOvr>
</p:sld>
</file>

<file path=ppt/theme/theme1.xml><?xml version="1.0" encoding="utf-8"?>
<a:theme xmlns:a="http://schemas.openxmlformats.org/drawingml/2006/main" name="Credit Card Fraud Model Selection">
  <a:themeElements>
    <a:clrScheme name="Credit Card Fraud Model Selection">
      <a:dk1>
        <a:srgbClr val="16213A"/>
      </a:dk1>
      <a:lt1>
        <a:srgbClr val="F5F2EA"/>
      </a:lt1>
      <a:dk2>
        <a:srgbClr val="4E5566"/>
      </a:dk2>
      <a:lt2>
        <a:srgbClr val="DFDDD8"/>
      </a:lt2>
      <a:accent1>
        <a:srgbClr val="1D6F7E"/>
      </a:accent1>
      <a:accent2>
        <a:srgbClr val="B8441A"/>
      </a:accent2>
      <a:accent3>
        <a:srgbClr val="F2A272"/>
      </a:accent3>
      <a:accent4>
        <a:srgbClr val="5A6275"/>
      </a:accent4>
      <a:accent5>
        <a:srgbClr val="B8C0D4"/>
      </a:accent5>
      <a:accent6>
        <a:srgbClr val="9AA0A6"/>
      </a:accent6>
      <a:hlink>
        <a:srgbClr val="0563C1"/>
      </a:hlink>
      <a:folHlink>
        <a:srgbClr val="954F72"/>
      </a:folHlink>
    </a:clrScheme>
    <a:fontScheme name="Credit Card Fraud Model Selection">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3029</Words>
  <Application>Microsoft Office PowerPoint</Application>
  <PresentationFormat>Widescreen</PresentationFormat>
  <Paragraphs>439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Source Serif 4</vt:lpstr>
      <vt:lpstr>Arial</vt:lpstr>
      <vt:lpstr>IBM Plex Sans</vt:lpstr>
      <vt:lpstr>Credit Card Fraud Model Selection</vt:lpstr>
      <vt:lpstr>Credit card fraud detection: choosing and judging a model</vt:lpstr>
      <vt:lpstr>The simplest model won, and it is not ready yet</vt:lpstr>
      <vt:lpstr>Find the fraud a small review team can actually screen</vt:lpstr>
      <vt:lpstr>Supervised, binary classification on imbalanced data</vt:lpstr>
      <vt:lpstr>20,000 transactions with only 339 frauds</vt:lpstr>
      <vt:lpstr>Five findings that shaped the modelling</vt:lpstr>
      <vt:lpstr>Standard preprocessing, no new features, no leakage</vt:lpstr>
      <vt:lpstr>Logistic regression at 0.25 is the model to beat</vt:lpstr>
      <vt:lpstr>Class weighting mattered more than any tuning knob</vt:lpstr>
      <vt:lpstr>Recall and precision, traded off at a chosen cut-off</vt:lpstr>
      <vt:lpstr>No tuned model beat plain logistic regression</vt:lpstr>
      <vt:lpstr>The selected model still misses half the fraud</vt:lpstr>
      <vt:lpstr>About $3.2M a year per 1M transactions, on assumed inputs</vt:lpstr>
      <vt:lpstr>Do not deploy yet; run a shadow pilot first</vt:lpstr>
      <vt:lpstr>Four risks, each with a mitigation and a gate</vt:lpstr>
      <vt:lpstr>Score each transaction in real time, learn from outcomes</vt:lpstr>
      <vt:lpstr>Retrain monthly, watch for drift, A/B test before rollout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Model Selection</dc:title>
  <dc:subject/>
  <dc:creator/>
  <cp:lastModifiedBy>REN HONGLIANG PDDS0526TAB</cp:lastModifiedBy>
  <cp:revision>3</cp:revision>
  <dcterms:created xsi:type="dcterms:W3CDTF">2026-10-31T03:15:18Z</dcterms:created>
  <dcterms:modified xsi:type="dcterms:W3CDTF">2026-10-31T03:30:54Z</dcterms:modified>
</cp:coreProperties>
</file>